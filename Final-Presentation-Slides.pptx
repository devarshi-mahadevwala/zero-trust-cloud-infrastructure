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8288000" cy="10287000"/>
  <p:notesSz cx="6858000" cy="9144000"/>
  <p:embeddedFontLst>
    <p:embeddedFont>
      <p:font typeface="Cloud" panose="020B0604020202020204" charset="0"/>
      <p:regular r:id="rId20"/>
    </p:embeddedFont>
    <p:embeddedFont>
      <p:font typeface="Cloud Bold" panose="020B0604020202020204" charset="0"/>
      <p:regular r:id="rId21"/>
    </p:embeddedFont>
    <p:embeddedFont>
      <p:font typeface="Helios" panose="020B0604020202020204" charset="0"/>
      <p:regular r:id="rId22"/>
    </p:embeddedFont>
    <p:embeddedFont>
      <p:font typeface="Inter" panose="020B0604020202020204" charset="0"/>
      <p:regular r:id="rId23"/>
    </p:embeddedFont>
    <p:embeddedFont>
      <p:font typeface="League Spartan" panose="020B0604020202020204" charset="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4" d="100"/>
          <a:sy n="54" d="100"/>
        </p:scale>
        <p:origin x="468" y="-72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12/4/2024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sv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jpeg"/><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svg"/></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 Id="rId5" Type="http://schemas.openxmlformats.org/officeDocument/2006/relationships/image" Target="../media/image22.sv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hyperlink" Target="http://secure.securesphere.solutions" TargetMode="External"/><Relationship Id="rId2" Type="http://schemas.openxmlformats.org/officeDocument/2006/relationships/image" Target="../media/image33.jpeg"/><Relationship Id="rId1" Type="http://schemas.openxmlformats.org/officeDocument/2006/relationships/slideLayout" Target="../slideLayouts/slideLayout7.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svg"/></Relationships>
</file>

<file path=ppt/slides/_rels/slide1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jpeg"/><Relationship Id="rId1" Type="http://schemas.openxmlformats.org/officeDocument/2006/relationships/slideLayout" Target="../slideLayouts/slideLayout7.xml"/><Relationship Id="rId4" Type="http://schemas.openxmlformats.org/officeDocument/2006/relationships/image" Target="../media/image40.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6666" b="-16666"/>
            </a:stretch>
          </a:blipFill>
        </p:spPr>
        <p:txBody>
          <a:bodyPr/>
          <a:lstStyle/>
          <a:p>
            <a:endParaRPr lang="en-CA"/>
          </a:p>
        </p:txBody>
      </p:sp>
      <p:grpSp>
        <p:nvGrpSpPr>
          <p:cNvPr id="3" name="Group 3"/>
          <p:cNvGrpSpPr/>
          <p:nvPr/>
        </p:nvGrpSpPr>
        <p:grpSpPr>
          <a:xfrm>
            <a:off x="0" y="0"/>
            <a:ext cx="18520038" cy="10287000"/>
            <a:chOff x="0" y="0"/>
            <a:chExt cx="4877705" cy="2709333"/>
          </a:xfrm>
        </p:grpSpPr>
        <p:sp>
          <p:nvSpPr>
            <p:cNvPr id="4" name="Freeform 4"/>
            <p:cNvSpPr/>
            <p:nvPr/>
          </p:nvSpPr>
          <p:spPr>
            <a:xfrm>
              <a:off x="0" y="0"/>
              <a:ext cx="4877705" cy="2709333"/>
            </a:xfrm>
            <a:custGeom>
              <a:avLst/>
              <a:gdLst/>
              <a:ahLst/>
              <a:cxnLst/>
              <a:rect l="l" t="t" r="r" b="b"/>
              <a:pathLst>
                <a:path w="4877705" h="2709333">
                  <a:moveTo>
                    <a:pt x="0" y="0"/>
                  </a:moveTo>
                  <a:lnTo>
                    <a:pt x="4877705" y="0"/>
                  </a:lnTo>
                  <a:lnTo>
                    <a:pt x="4877705" y="2709333"/>
                  </a:lnTo>
                  <a:lnTo>
                    <a:pt x="0" y="2709333"/>
                  </a:lnTo>
                  <a:close/>
                </a:path>
              </a:pathLst>
            </a:custGeom>
            <a:solidFill>
              <a:srgbClr val="FFFFFF">
                <a:alpha val="77647"/>
              </a:srgbClr>
            </a:solidFill>
          </p:spPr>
          <p:txBody>
            <a:bodyPr/>
            <a:lstStyle/>
            <a:p>
              <a:endParaRPr lang="en-CA"/>
            </a:p>
          </p:txBody>
        </p:sp>
        <p:sp>
          <p:nvSpPr>
            <p:cNvPr id="5" name="TextBox 5"/>
            <p:cNvSpPr txBox="1"/>
            <p:nvPr/>
          </p:nvSpPr>
          <p:spPr>
            <a:xfrm>
              <a:off x="0" y="-38100"/>
              <a:ext cx="4877705" cy="2747433"/>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p:cNvSpPr/>
          <p:nvPr/>
        </p:nvSpPr>
        <p:spPr>
          <a:xfrm>
            <a:off x="0" y="4810163"/>
            <a:ext cx="6073106" cy="5476837"/>
          </a:xfrm>
          <a:custGeom>
            <a:avLst/>
            <a:gdLst/>
            <a:ahLst/>
            <a:cxnLst/>
            <a:rect l="l" t="t" r="r" b="b"/>
            <a:pathLst>
              <a:path w="6073106" h="5476837">
                <a:moveTo>
                  <a:pt x="0" y="0"/>
                </a:moveTo>
                <a:lnTo>
                  <a:pt x="6073106" y="0"/>
                </a:lnTo>
                <a:lnTo>
                  <a:pt x="6073106" y="5476837"/>
                </a:lnTo>
                <a:lnTo>
                  <a:pt x="0" y="54768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CA"/>
          </a:p>
        </p:txBody>
      </p:sp>
      <p:sp>
        <p:nvSpPr>
          <p:cNvPr id="7" name="Freeform 7"/>
          <p:cNvSpPr/>
          <p:nvPr/>
        </p:nvSpPr>
        <p:spPr>
          <a:xfrm rot="-10800000">
            <a:off x="12214894" y="0"/>
            <a:ext cx="6073106" cy="5476837"/>
          </a:xfrm>
          <a:custGeom>
            <a:avLst/>
            <a:gdLst/>
            <a:ahLst/>
            <a:cxnLst/>
            <a:rect l="l" t="t" r="r" b="b"/>
            <a:pathLst>
              <a:path w="6073106" h="5476837">
                <a:moveTo>
                  <a:pt x="0" y="0"/>
                </a:moveTo>
                <a:lnTo>
                  <a:pt x="6073106" y="0"/>
                </a:lnTo>
                <a:lnTo>
                  <a:pt x="6073106" y="5476837"/>
                </a:lnTo>
                <a:lnTo>
                  <a:pt x="0" y="54768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CA"/>
          </a:p>
        </p:txBody>
      </p:sp>
      <p:sp>
        <p:nvSpPr>
          <p:cNvPr id="8" name="TextBox 8"/>
          <p:cNvSpPr txBox="1"/>
          <p:nvPr/>
        </p:nvSpPr>
        <p:spPr>
          <a:xfrm>
            <a:off x="1722549" y="3190598"/>
            <a:ext cx="13808863" cy="2543716"/>
          </a:xfrm>
          <a:prstGeom prst="rect">
            <a:avLst/>
          </a:prstGeom>
        </p:spPr>
        <p:txBody>
          <a:bodyPr lIns="0" tIns="0" rIns="0" bIns="0" rtlCol="0" anchor="t">
            <a:spAutoFit/>
          </a:bodyPr>
          <a:lstStyle/>
          <a:p>
            <a:pPr algn="ctr">
              <a:lnSpc>
                <a:spcPts val="6715"/>
              </a:lnSpc>
            </a:pPr>
            <a:r>
              <a:rPr lang="en-US" sz="5416" spc="129">
                <a:solidFill>
                  <a:srgbClr val="365679"/>
                </a:solidFill>
                <a:latin typeface="League Spartan"/>
                <a:ea typeface="League Spartan"/>
                <a:cs typeface="League Spartan"/>
                <a:sym typeface="League Spartan"/>
              </a:rPr>
              <a:t>SECURING CLOUD INFRASTRUCTURE: A ZERO TRUST AND ENCRYPTED TRAFFIC SOLUTION</a:t>
            </a:r>
          </a:p>
        </p:txBody>
      </p:sp>
      <p:sp>
        <p:nvSpPr>
          <p:cNvPr id="9" name="TextBox 9"/>
          <p:cNvSpPr txBox="1"/>
          <p:nvPr/>
        </p:nvSpPr>
        <p:spPr>
          <a:xfrm>
            <a:off x="5708145" y="7042843"/>
            <a:ext cx="7103748" cy="1018930"/>
          </a:xfrm>
          <a:prstGeom prst="rect">
            <a:avLst/>
          </a:prstGeom>
        </p:spPr>
        <p:txBody>
          <a:bodyPr lIns="0" tIns="0" rIns="0" bIns="0" rtlCol="0" anchor="t">
            <a:spAutoFit/>
          </a:bodyPr>
          <a:lstStyle/>
          <a:p>
            <a:pPr algn="ctr">
              <a:lnSpc>
                <a:spcPts val="4085"/>
              </a:lnSpc>
            </a:pPr>
            <a:r>
              <a:rPr lang="en-US" sz="2918" spc="172">
                <a:solidFill>
                  <a:srgbClr val="365679"/>
                </a:solidFill>
                <a:latin typeface="Helios"/>
                <a:ea typeface="Helios"/>
                <a:cs typeface="Helios"/>
                <a:sym typeface="Helios"/>
              </a:rPr>
              <a:t>PRESENTED BY: SECURESPHERE TECHNOLOGIES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5569083"/>
            <a:chOff x="0" y="0"/>
            <a:chExt cx="4816593" cy="1466754"/>
          </a:xfrm>
        </p:grpSpPr>
        <p:sp>
          <p:nvSpPr>
            <p:cNvPr id="3" name="Freeform 3"/>
            <p:cNvSpPr/>
            <p:nvPr/>
          </p:nvSpPr>
          <p:spPr>
            <a:xfrm>
              <a:off x="0" y="0"/>
              <a:ext cx="4816592" cy="1466754"/>
            </a:xfrm>
            <a:custGeom>
              <a:avLst/>
              <a:gdLst/>
              <a:ahLst/>
              <a:cxnLst/>
              <a:rect l="l" t="t" r="r" b="b"/>
              <a:pathLst>
                <a:path w="4816592" h="1466754">
                  <a:moveTo>
                    <a:pt x="0" y="0"/>
                  </a:moveTo>
                  <a:lnTo>
                    <a:pt x="4816592" y="0"/>
                  </a:lnTo>
                  <a:lnTo>
                    <a:pt x="4816592" y="1466754"/>
                  </a:lnTo>
                  <a:lnTo>
                    <a:pt x="0" y="1466754"/>
                  </a:lnTo>
                  <a:close/>
                </a:path>
              </a:pathLst>
            </a:custGeom>
            <a:solidFill>
              <a:srgbClr val="2B485F"/>
            </a:solidFill>
          </p:spPr>
          <p:txBody>
            <a:bodyPr/>
            <a:lstStyle/>
            <a:p>
              <a:endParaRPr lang="en-CA"/>
            </a:p>
          </p:txBody>
        </p:sp>
        <p:sp>
          <p:nvSpPr>
            <p:cNvPr id="4" name="TextBox 4"/>
            <p:cNvSpPr txBox="1"/>
            <p:nvPr/>
          </p:nvSpPr>
          <p:spPr>
            <a:xfrm>
              <a:off x="0" y="-66675"/>
              <a:ext cx="4816593" cy="1533429"/>
            </a:xfrm>
            <a:prstGeom prst="rect">
              <a:avLst/>
            </a:prstGeom>
          </p:spPr>
          <p:txBody>
            <a:bodyPr lIns="50800" tIns="50800" rIns="50800" bIns="50800" rtlCol="0" anchor="ctr"/>
            <a:lstStyle/>
            <a:p>
              <a:pPr algn="ctr">
                <a:lnSpc>
                  <a:spcPts val="3640"/>
                </a:lnSpc>
              </a:pPr>
              <a:endParaRPr/>
            </a:p>
          </p:txBody>
        </p:sp>
      </p:grpSp>
      <p:grpSp>
        <p:nvGrpSpPr>
          <p:cNvPr id="5" name="Group 5"/>
          <p:cNvGrpSpPr/>
          <p:nvPr/>
        </p:nvGrpSpPr>
        <p:grpSpPr>
          <a:xfrm>
            <a:off x="9144000" y="-266556"/>
            <a:ext cx="9534940" cy="5835639"/>
            <a:chOff x="0" y="0"/>
            <a:chExt cx="1477212" cy="904093"/>
          </a:xfrm>
        </p:grpSpPr>
        <p:sp>
          <p:nvSpPr>
            <p:cNvPr id="6" name="Freeform 6"/>
            <p:cNvSpPr/>
            <p:nvPr/>
          </p:nvSpPr>
          <p:spPr>
            <a:xfrm>
              <a:off x="0" y="0"/>
              <a:ext cx="1477212" cy="904093"/>
            </a:xfrm>
            <a:custGeom>
              <a:avLst/>
              <a:gdLst/>
              <a:ahLst/>
              <a:cxnLst/>
              <a:rect l="l" t="t" r="r" b="b"/>
              <a:pathLst>
                <a:path w="1477212" h="904093">
                  <a:moveTo>
                    <a:pt x="18675" y="0"/>
                  </a:moveTo>
                  <a:lnTo>
                    <a:pt x="1458537" y="0"/>
                  </a:lnTo>
                  <a:cubicBezTo>
                    <a:pt x="1463490" y="0"/>
                    <a:pt x="1468240" y="1968"/>
                    <a:pt x="1471742" y="5470"/>
                  </a:cubicBezTo>
                  <a:cubicBezTo>
                    <a:pt x="1475244" y="8972"/>
                    <a:pt x="1477212" y="13722"/>
                    <a:pt x="1477212" y="18675"/>
                  </a:cubicBezTo>
                  <a:lnTo>
                    <a:pt x="1477212" y="885418"/>
                  </a:lnTo>
                  <a:cubicBezTo>
                    <a:pt x="1477212" y="895732"/>
                    <a:pt x="1468851" y="904093"/>
                    <a:pt x="1458537" y="904093"/>
                  </a:cubicBezTo>
                  <a:lnTo>
                    <a:pt x="18675" y="904093"/>
                  </a:lnTo>
                  <a:cubicBezTo>
                    <a:pt x="13722" y="904093"/>
                    <a:pt x="8972" y="902126"/>
                    <a:pt x="5470" y="898624"/>
                  </a:cubicBezTo>
                  <a:cubicBezTo>
                    <a:pt x="1968" y="895121"/>
                    <a:pt x="0" y="890371"/>
                    <a:pt x="0" y="885418"/>
                  </a:cubicBezTo>
                  <a:lnTo>
                    <a:pt x="0" y="18675"/>
                  </a:lnTo>
                  <a:cubicBezTo>
                    <a:pt x="0" y="13722"/>
                    <a:pt x="1968" y="8972"/>
                    <a:pt x="5470" y="5470"/>
                  </a:cubicBezTo>
                  <a:cubicBezTo>
                    <a:pt x="8972" y="1968"/>
                    <a:pt x="13722" y="0"/>
                    <a:pt x="18675" y="0"/>
                  </a:cubicBezTo>
                  <a:close/>
                </a:path>
              </a:pathLst>
            </a:custGeom>
            <a:blipFill>
              <a:blip r:embed="rId2"/>
              <a:stretch>
                <a:fillRect t="-120635" b="-24145"/>
              </a:stretch>
            </a:blipFill>
          </p:spPr>
          <p:txBody>
            <a:bodyPr/>
            <a:lstStyle/>
            <a:p>
              <a:endParaRPr lang="en-CA"/>
            </a:p>
          </p:txBody>
        </p:sp>
      </p:grpSp>
      <p:grpSp>
        <p:nvGrpSpPr>
          <p:cNvPr id="7" name="Group 7"/>
          <p:cNvGrpSpPr/>
          <p:nvPr/>
        </p:nvGrpSpPr>
        <p:grpSpPr>
          <a:xfrm>
            <a:off x="9668435" y="6204937"/>
            <a:ext cx="7590865" cy="3249786"/>
            <a:chOff x="0" y="0"/>
            <a:chExt cx="1999240" cy="855911"/>
          </a:xfrm>
        </p:grpSpPr>
        <p:sp>
          <p:nvSpPr>
            <p:cNvPr id="8" name="Freeform 8"/>
            <p:cNvSpPr/>
            <p:nvPr/>
          </p:nvSpPr>
          <p:spPr>
            <a:xfrm>
              <a:off x="0" y="0"/>
              <a:ext cx="1999240" cy="855911"/>
            </a:xfrm>
            <a:custGeom>
              <a:avLst/>
              <a:gdLst/>
              <a:ahLst/>
              <a:cxnLst/>
              <a:rect l="l" t="t" r="r" b="b"/>
              <a:pathLst>
                <a:path w="1999240" h="855911">
                  <a:moveTo>
                    <a:pt x="50995" y="0"/>
                  </a:moveTo>
                  <a:lnTo>
                    <a:pt x="1948245" y="0"/>
                  </a:lnTo>
                  <a:cubicBezTo>
                    <a:pt x="1961770" y="0"/>
                    <a:pt x="1974741" y="5373"/>
                    <a:pt x="1984304" y="14936"/>
                  </a:cubicBezTo>
                  <a:cubicBezTo>
                    <a:pt x="1993868" y="24499"/>
                    <a:pt x="1999240" y="37470"/>
                    <a:pt x="1999240" y="50995"/>
                  </a:cubicBezTo>
                  <a:lnTo>
                    <a:pt x="1999240" y="804916"/>
                  </a:lnTo>
                  <a:cubicBezTo>
                    <a:pt x="1999240" y="818440"/>
                    <a:pt x="1993868" y="831411"/>
                    <a:pt x="1984304" y="840975"/>
                  </a:cubicBezTo>
                  <a:cubicBezTo>
                    <a:pt x="1974741" y="850538"/>
                    <a:pt x="1961770" y="855911"/>
                    <a:pt x="1948245" y="855911"/>
                  </a:cubicBezTo>
                  <a:lnTo>
                    <a:pt x="50995" y="855911"/>
                  </a:lnTo>
                  <a:cubicBezTo>
                    <a:pt x="37470" y="855911"/>
                    <a:pt x="24499" y="850538"/>
                    <a:pt x="14936" y="840975"/>
                  </a:cubicBezTo>
                  <a:cubicBezTo>
                    <a:pt x="5373" y="831411"/>
                    <a:pt x="0" y="818440"/>
                    <a:pt x="0" y="804916"/>
                  </a:cubicBezTo>
                  <a:lnTo>
                    <a:pt x="0" y="50995"/>
                  </a:lnTo>
                  <a:cubicBezTo>
                    <a:pt x="0" y="37470"/>
                    <a:pt x="5373" y="24499"/>
                    <a:pt x="14936" y="14936"/>
                  </a:cubicBezTo>
                  <a:cubicBezTo>
                    <a:pt x="24499" y="5373"/>
                    <a:pt x="37470" y="0"/>
                    <a:pt x="50995" y="0"/>
                  </a:cubicBezTo>
                  <a:close/>
                </a:path>
              </a:pathLst>
            </a:custGeom>
            <a:solidFill>
              <a:srgbClr val="2B485F"/>
            </a:solidFill>
          </p:spPr>
          <p:txBody>
            <a:bodyPr/>
            <a:lstStyle/>
            <a:p>
              <a:endParaRPr lang="en-CA"/>
            </a:p>
          </p:txBody>
        </p:sp>
        <p:sp>
          <p:nvSpPr>
            <p:cNvPr id="9" name="TextBox 9"/>
            <p:cNvSpPr txBox="1"/>
            <p:nvPr/>
          </p:nvSpPr>
          <p:spPr>
            <a:xfrm>
              <a:off x="0" y="-66675"/>
              <a:ext cx="1999240" cy="922586"/>
            </a:xfrm>
            <a:prstGeom prst="rect">
              <a:avLst/>
            </a:prstGeom>
          </p:spPr>
          <p:txBody>
            <a:bodyPr lIns="50800" tIns="50800" rIns="50800" bIns="50800" rtlCol="0" anchor="ctr"/>
            <a:lstStyle/>
            <a:p>
              <a:pPr algn="ctr">
                <a:lnSpc>
                  <a:spcPts val="3640"/>
                </a:lnSpc>
              </a:pPr>
              <a:endParaRPr/>
            </a:p>
          </p:txBody>
        </p:sp>
      </p:grpSp>
      <p:grpSp>
        <p:nvGrpSpPr>
          <p:cNvPr id="10" name="Group 10"/>
          <p:cNvGrpSpPr/>
          <p:nvPr/>
        </p:nvGrpSpPr>
        <p:grpSpPr>
          <a:xfrm>
            <a:off x="1028700" y="6204937"/>
            <a:ext cx="7590865" cy="3249786"/>
            <a:chOff x="0" y="0"/>
            <a:chExt cx="1999240" cy="855911"/>
          </a:xfrm>
        </p:grpSpPr>
        <p:sp>
          <p:nvSpPr>
            <p:cNvPr id="11" name="Freeform 11"/>
            <p:cNvSpPr/>
            <p:nvPr/>
          </p:nvSpPr>
          <p:spPr>
            <a:xfrm>
              <a:off x="0" y="0"/>
              <a:ext cx="1999240" cy="855911"/>
            </a:xfrm>
            <a:custGeom>
              <a:avLst/>
              <a:gdLst/>
              <a:ahLst/>
              <a:cxnLst/>
              <a:rect l="l" t="t" r="r" b="b"/>
              <a:pathLst>
                <a:path w="1999240" h="855911">
                  <a:moveTo>
                    <a:pt x="50995" y="0"/>
                  </a:moveTo>
                  <a:lnTo>
                    <a:pt x="1948245" y="0"/>
                  </a:lnTo>
                  <a:cubicBezTo>
                    <a:pt x="1961770" y="0"/>
                    <a:pt x="1974741" y="5373"/>
                    <a:pt x="1984304" y="14936"/>
                  </a:cubicBezTo>
                  <a:cubicBezTo>
                    <a:pt x="1993868" y="24499"/>
                    <a:pt x="1999240" y="37470"/>
                    <a:pt x="1999240" y="50995"/>
                  </a:cubicBezTo>
                  <a:lnTo>
                    <a:pt x="1999240" y="804916"/>
                  </a:lnTo>
                  <a:cubicBezTo>
                    <a:pt x="1999240" y="818440"/>
                    <a:pt x="1993868" y="831411"/>
                    <a:pt x="1984304" y="840975"/>
                  </a:cubicBezTo>
                  <a:cubicBezTo>
                    <a:pt x="1974741" y="850538"/>
                    <a:pt x="1961770" y="855911"/>
                    <a:pt x="1948245" y="855911"/>
                  </a:cubicBezTo>
                  <a:lnTo>
                    <a:pt x="50995" y="855911"/>
                  </a:lnTo>
                  <a:cubicBezTo>
                    <a:pt x="37470" y="855911"/>
                    <a:pt x="24499" y="850538"/>
                    <a:pt x="14936" y="840975"/>
                  </a:cubicBezTo>
                  <a:cubicBezTo>
                    <a:pt x="5373" y="831411"/>
                    <a:pt x="0" y="818440"/>
                    <a:pt x="0" y="804916"/>
                  </a:cubicBezTo>
                  <a:lnTo>
                    <a:pt x="0" y="50995"/>
                  </a:lnTo>
                  <a:cubicBezTo>
                    <a:pt x="0" y="37470"/>
                    <a:pt x="5373" y="24499"/>
                    <a:pt x="14936" y="14936"/>
                  </a:cubicBezTo>
                  <a:cubicBezTo>
                    <a:pt x="24499" y="5373"/>
                    <a:pt x="37470" y="0"/>
                    <a:pt x="50995" y="0"/>
                  </a:cubicBezTo>
                  <a:close/>
                </a:path>
              </a:pathLst>
            </a:custGeom>
            <a:solidFill>
              <a:srgbClr val="2B485F"/>
            </a:solidFill>
          </p:spPr>
          <p:txBody>
            <a:bodyPr/>
            <a:lstStyle/>
            <a:p>
              <a:endParaRPr lang="en-CA"/>
            </a:p>
          </p:txBody>
        </p:sp>
        <p:sp>
          <p:nvSpPr>
            <p:cNvPr id="12" name="TextBox 12"/>
            <p:cNvSpPr txBox="1"/>
            <p:nvPr/>
          </p:nvSpPr>
          <p:spPr>
            <a:xfrm>
              <a:off x="0" y="-66675"/>
              <a:ext cx="1999240" cy="922586"/>
            </a:xfrm>
            <a:prstGeom prst="rect">
              <a:avLst/>
            </a:prstGeom>
          </p:spPr>
          <p:txBody>
            <a:bodyPr lIns="50800" tIns="50800" rIns="50800" bIns="50800" rtlCol="0" anchor="ctr"/>
            <a:lstStyle/>
            <a:p>
              <a:pPr algn="ctr">
                <a:lnSpc>
                  <a:spcPts val="3640"/>
                </a:lnSpc>
              </a:pPr>
              <a:endParaRPr/>
            </a:p>
          </p:txBody>
        </p:sp>
      </p:grpSp>
      <p:sp>
        <p:nvSpPr>
          <p:cNvPr id="13" name="TextBox 13"/>
          <p:cNvSpPr txBox="1"/>
          <p:nvPr/>
        </p:nvSpPr>
        <p:spPr>
          <a:xfrm>
            <a:off x="1028700" y="666882"/>
            <a:ext cx="7110246" cy="2117660"/>
          </a:xfrm>
          <a:prstGeom prst="rect">
            <a:avLst/>
          </a:prstGeom>
        </p:spPr>
        <p:txBody>
          <a:bodyPr lIns="0" tIns="0" rIns="0" bIns="0" rtlCol="0" anchor="t">
            <a:spAutoFit/>
          </a:bodyPr>
          <a:lstStyle/>
          <a:p>
            <a:pPr algn="l">
              <a:lnSpc>
                <a:spcPts val="8456"/>
              </a:lnSpc>
            </a:pPr>
            <a:r>
              <a:rPr lang="en-US" sz="6505" spc="156">
                <a:solidFill>
                  <a:srgbClr val="FFFFFF"/>
                </a:solidFill>
                <a:latin typeface="League Spartan"/>
                <a:ea typeface="League Spartan"/>
                <a:cs typeface="League Spartan"/>
                <a:sym typeface="League Spartan"/>
              </a:rPr>
              <a:t>SecureSphere Technologies</a:t>
            </a:r>
          </a:p>
        </p:txBody>
      </p:sp>
      <p:sp>
        <p:nvSpPr>
          <p:cNvPr id="14" name="TextBox 14"/>
          <p:cNvSpPr txBox="1"/>
          <p:nvPr/>
        </p:nvSpPr>
        <p:spPr>
          <a:xfrm>
            <a:off x="1257393" y="3265839"/>
            <a:ext cx="7511006" cy="1519769"/>
          </a:xfrm>
          <a:prstGeom prst="rect">
            <a:avLst/>
          </a:prstGeom>
        </p:spPr>
        <p:txBody>
          <a:bodyPr lIns="0" tIns="0" rIns="0" bIns="0" rtlCol="0" anchor="t">
            <a:spAutoFit/>
          </a:bodyPr>
          <a:lstStyle/>
          <a:p>
            <a:pPr marL="0" lvl="0" indent="0" algn="l">
              <a:lnSpc>
                <a:spcPts val="3080"/>
              </a:lnSpc>
              <a:spcBef>
                <a:spcPct val="0"/>
              </a:spcBef>
            </a:pPr>
            <a:r>
              <a:rPr lang="en-US" sz="2200" u="none" strike="noStrike" spc="261">
                <a:solidFill>
                  <a:srgbClr val="FFFFFF"/>
                </a:solidFill>
                <a:latin typeface="Inter"/>
                <a:ea typeface="Inter"/>
                <a:cs typeface="Inter"/>
                <a:sym typeface="Inter"/>
              </a:rPr>
              <a:t>A cybersecurity solutions provider specializing in scalable, secure cloud infrastructure for high-risk industries like finance and e-commerce.</a:t>
            </a:r>
          </a:p>
        </p:txBody>
      </p:sp>
      <p:sp>
        <p:nvSpPr>
          <p:cNvPr id="15" name="TextBox 15"/>
          <p:cNvSpPr txBox="1"/>
          <p:nvPr/>
        </p:nvSpPr>
        <p:spPr>
          <a:xfrm>
            <a:off x="1493888" y="6687616"/>
            <a:ext cx="3180371" cy="495300"/>
          </a:xfrm>
          <a:prstGeom prst="rect">
            <a:avLst/>
          </a:prstGeom>
        </p:spPr>
        <p:txBody>
          <a:bodyPr lIns="0" tIns="0" rIns="0" bIns="0" rtlCol="0" anchor="t">
            <a:spAutoFit/>
          </a:bodyPr>
          <a:lstStyle/>
          <a:p>
            <a:pPr algn="l">
              <a:lnSpc>
                <a:spcPts val="3900"/>
              </a:lnSpc>
            </a:pPr>
            <a:r>
              <a:rPr lang="en-US" sz="3000" spc="72">
                <a:solidFill>
                  <a:srgbClr val="FFFFFF"/>
                </a:solidFill>
                <a:latin typeface="League Spartan"/>
                <a:ea typeface="League Spartan"/>
                <a:cs typeface="League Spartan"/>
                <a:sym typeface="League Spartan"/>
              </a:rPr>
              <a:t>Our Mission:</a:t>
            </a:r>
          </a:p>
        </p:txBody>
      </p:sp>
      <p:sp>
        <p:nvSpPr>
          <p:cNvPr id="16" name="TextBox 16"/>
          <p:cNvSpPr txBox="1"/>
          <p:nvPr/>
        </p:nvSpPr>
        <p:spPr>
          <a:xfrm>
            <a:off x="1504176" y="7354362"/>
            <a:ext cx="6650202" cy="2325369"/>
          </a:xfrm>
          <a:prstGeom prst="rect">
            <a:avLst/>
          </a:prstGeom>
        </p:spPr>
        <p:txBody>
          <a:bodyPr lIns="0" tIns="0" rIns="0" bIns="0" rtlCol="0" anchor="t">
            <a:spAutoFit/>
          </a:bodyPr>
          <a:lstStyle/>
          <a:p>
            <a:pPr algn="l">
              <a:lnSpc>
                <a:spcPts val="3080"/>
              </a:lnSpc>
            </a:pPr>
            <a:r>
              <a:rPr lang="en-US" sz="2200" spc="261">
                <a:solidFill>
                  <a:srgbClr val="FFFFFF"/>
                </a:solidFill>
                <a:latin typeface="Inter"/>
                <a:ea typeface="Inter"/>
                <a:cs typeface="Inter"/>
                <a:sym typeface="Inter"/>
              </a:rPr>
              <a:t>To deliver robust, cutting-edge cloud security solutions that ensure data protection, compliance, and business continuity for our clients.</a:t>
            </a:r>
          </a:p>
          <a:p>
            <a:pPr algn="l">
              <a:lnSpc>
                <a:spcPts val="3080"/>
              </a:lnSpc>
            </a:pPr>
            <a:endParaRPr lang="en-US" sz="2200" spc="261">
              <a:solidFill>
                <a:srgbClr val="FFFFFF"/>
              </a:solidFill>
              <a:latin typeface="Inter"/>
              <a:ea typeface="Inter"/>
              <a:cs typeface="Inter"/>
              <a:sym typeface="Inter"/>
            </a:endParaRPr>
          </a:p>
          <a:p>
            <a:pPr algn="l">
              <a:lnSpc>
                <a:spcPts val="3080"/>
              </a:lnSpc>
            </a:pPr>
            <a:endParaRPr lang="en-US" sz="2200" spc="261">
              <a:solidFill>
                <a:srgbClr val="FFFFFF"/>
              </a:solidFill>
              <a:latin typeface="Inter"/>
              <a:ea typeface="Inter"/>
              <a:cs typeface="Inter"/>
              <a:sym typeface="Inter"/>
            </a:endParaRPr>
          </a:p>
        </p:txBody>
      </p:sp>
      <p:sp>
        <p:nvSpPr>
          <p:cNvPr id="17" name="TextBox 17"/>
          <p:cNvSpPr txBox="1"/>
          <p:nvPr/>
        </p:nvSpPr>
        <p:spPr>
          <a:xfrm>
            <a:off x="10133622" y="6687616"/>
            <a:ext cx="4498109" cy="495300"/>
          </a:xfrm>
          <a:prstGeom prst="rect">
            <a:avLst/>
          </a:prstGeom>
        </p:spPr>
        <p:txBody>
          <a:bodyPr lIns="0" tIns="0" rIns="0" bIns="0" rtlCol="0" anchor="t">
            <a:spAutoFit/>
          </a:bodyPr>
          <a:lstStyle/>
          <a:p>
            <a:pPr algn="l">
              <a:lnSpc>
                <a:spcPts val="3900"/>
              </a:lnSpc>
            </a:pPr>
            <a:r>
              <a:rPr lang="en-US" sz="3000" spc="72">
                <a:solidFill>
                  <a:srgbClr val="FFFFFF"/>
                </a:solidFill>
                <a:latin typeface="League Spartan"/>
                <a:ea typeface="League Spartan"/>
                <a:cs typeface="League Spartan"/>
                <a:sym typeface="League Spartan"/>
              </a:rPr>
              <a:t>What We Deliver:</a:t>
            </a:r>
          </a:p>
        </p:txBody>
      </p:sp>
      <p:sp>
        <p:nvSpPr>
          <p:cNvPr id="18" name="TextBox 18"/>
          <p:cNvSpPr txBox="1"/>
          <p:nvPr/>
        </p:nvSpPr>
        <p:spPr>
          <a:xfrm>
            <a:off x="10143910" y="7354362"/>
            <a:ext cx="6650202" cy="1153794"/>
          </a:xfrm>
          <a:prstGeom prst="rect">
            <a:avLst/>
          </a:prstGeom>
        </p:spPr>
        <p:txBody>
          <a:bodyPr lIns="0" tIns="0" rIns="0" bIns="0" rtlCol="0" anchor="t">
            <a:spAutoFit/>
          </a:bodyPr>
          <a:lstStyle/>
          <a:p>
            <a:pPr algn="l">
              <a:lnSpc>
                <a:spcPts val="3080"/>
              </a:lnSpc>
            </a:pPr>
            <a:r>
              <a:rPr lang="en-US" sz="2200" spc="261">
                <a:solidFill>
                  <a:srgbClr val="FFFFFF"/>
                </a:solidFill>
                <a:latin typeface="Inter"/>
                <a:ea typeface="Inter"/>
                <a:cs typeface="Inter"/>
                <a:sym typeface="Inter"/>
              </a:rPr>
              <a:t>Encrypted traffic, Zero Trust architecture, and secure web applications.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5473595"/>
            <a:chOff x="0" y="0"/>
            <a:chExt cx="4816593" cy="1441605"/>
          </a:xfrm>
        </p:grpSpPr>
        <p:sp>
          <p:nvSpPr>
            <p:cNvPr id="3" name="Freeform 3"/>
            <p:cNvSpPr/>
            <p:nvPr/>
          </p:nvSpPr>
          <p:spPr>
            <a:xfrm>
              <a:off x="0" y="0"/>
              <a:ext cx="4816592" cy="1441605"/>
            </a:xfrm>
            <a:custGeom>
              <a:avLst/>
              <a:gdLst/>
              <a:ahLst/>
              <a:cxnLst/>
              <a:rect l="l" t="t" r="r" b="b"/>
              <a:pathLst>
                <a:path w="4816592" h="1441605">
                  <a:moveTo>
                    <a:pt x="0" y="0"/>
                  </a:moveTo>
                  <a:lnTo>
                    <a:pt x="4816592" y="0"/>
                  </a:lnTo>
                  <a:lnTo>
                    <a:pt x="4816592" y="1441605"/>
                  </a:lnTo>
                  <a:lnTo>
                    <a:pt x="0" y="1441605"/>
                  </a:lnTo>
                  <a:close/>
                </a:path>
              </a:pathLst>
            </a:custGeom>
            <a:solidFill>
              <a:srgbClr val="2B485F"/>
            </a:solidFill>
          </p:spPr>
          <p:txBody>
            <a:bodyPr/>
            <a:lstStyle/>
            <a:p>
              <a:endParaRPr lang="en-CA"/>
            </a:p>
          </p:txBody>
        </p:sp>
        <p:sp>
          <p:nvSpPr>
            <p:cNvPr id="4" name="TextBox 4"/>
            <p:cNvSpPr txBox="1"/>
            <p:nvPr/>
          </p:nvSpPr>
          <p:spPr>
            <a:xfrm>
              <a:off x="0" y="-66675"/>
              <a:ext cx="4816593" cy="1508280"/>
            </a:xfrm>
            <a:prstGeom prst="rect">
              <a:avLst/>
            </a:prstGeom>
          </p:spPr>
          <p:txBody>
            <a:bodyPr lIns="50800" tIns="50800" rIns="50800" bIns="50800" rtlCol="0" anchor="ctr"/>
            <a:lstStyle/>
            <a:p>
              <a:pPr algn="ctr">
                <a:lnSpc>
                  <a:spcPts val="3640"/>
                </a:lnSpc>
              </a:pPr>
              <a:endParaRPr/>
            </a:p>
          </p:txBody>
        </p:sp>
      </p:grpSp>
      <p:grpSp>
        <p:nvGrpSpPr>
          <p:cNvPr id="5" name="Group 5"/>
          <p:cNvGrpSpPr/>
          <p:nvPr/>
        </p:nvGrpSpPr>
        <p:grpSpPr>
          <a:xfrm>
            <a:off x="11219497" y="1498426"/>
            <a:ext cx="2787663" cy="27876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98196"/>
            </a:solidFill>
          </p:spPr>
          <p:txBody>
            <a:bodyPr/>
            <a:lstStyle/>
            <a:p>
              <a:endParaRPr lang="en-CA"/>
            </a:p>
          </p:txBody>
        </p:sp>
        <p:sp>
          <p:nvSpPr>
            <p:cNvPr id="7" name="TextBox 7"/>
            <p:cNvSpPr txBox="1"/>
            <p:nvPr/>
          </p:nvSpPr>
          <p:spPr>
            <a:xfrm>
              <a:off x="76200" y="9525"/>
              <a:ext cx="660400" cy="727075"/>
            </a:xfrm>
            <a:prstGeom prst="rect">
              <a:avLst/>
            </a:prstGeom>
          </p:spPr>
          <p:txBody>
            <a:bodyPr lIns="50800" tIns="50800" rIns="50800" bIns="50800" rtlCol="0" anchor="ctr"/>
            <a:lstStyle/>
            <a:p>
              <a:pPr algn="ctr">
                <a:lnSpc>
                  <a:spcPts val="3640"/>
                </a:lnSpc>
              </a:pPr>
              <a:endParaRPr/>
            </a:p>
          </p:txBody>
        </p:sp>
      </p:grpSp>
      <p:grpSp>
        <p:nvGrpSpPr>
          <p:cNvPr id="8" name="Group 8"/>
          <p:cNvGrpSpPr/>
          <p:nvPr/>
        </p:nvGrpSpPr>
        <p:grpSpPr>
          <a:xfrm>
            <a:off x="14471637" y="1498426"/>
            <a:ext cx="2787663" cy="2787663"/>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98196"/>
            </a:solidFill>
          </p:spPr>
          <p:txBody>
            <a:bodyPr/>
            <a:lstStyle/>
            <a:p>
              <a:endParaRPr lang="en-CA"/>
            </a:p>
          </p:txBody>
        </p:sp>
        <p:sp>
          <p:nvSpPr>
            <p:cNvPr id="10" name="TextBox 10"/>
            <p:cNvSpPr txBox="1"/>
            <p:nvPr/>
          </p:nvSpPr>
          <p:spPr>
            <a:xfrm>
              <a:off x="76200" y="9525"/>
              <a:ext cx="660400" cy="727075"/>
            </a:xfrm>
            <a:prstGeom prst="rect">
              <a:avLst/>
            </a:prstGeom>
          </p:spPr>
          <p:txBody>
            <a:bodyPr lIns="50800" tIns="50800" rIns="50800" bIns="50800" rtlCol="0" anchor="ctr"/>
            <a:lstStyle/>
            <a:p>
              <a:pPr algn="ctr">
                <a:lnSpc>
                  <a:spcPts val="3640"/>
                </a:lnSpc>
              </a:pPr>
              <a:endParaRPr/>
            </a:p>
          </p:txBody>
        </p:sp>
      </p:grpSp>
      <p:grpSp>
        <p:nvGrpSpPr>
          <p:cNvPr id="11" name="Group 11"/>
          <p:cNvGrpSpPr/>
          <p:nvPr/>
        </p:nvGrpSpPr>
        <p:grpSpPr>
          <a:xfrm>
            <a:off x="14471637" y="5520257"/>
            <a:ext cx="2787663" cy="27876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98196"/>
            </a:solidFill>
          </p:spPr>
          <p:txBody>
            <a:bodyPr/>
            <a:lstStyle/>
            <a:p>
              <a:endParaRPr lang="en-CA"/>
            </a:p>
          </p:txBody>
        </p:sp>
        <p:sp>
          <p:nvSpPr>
            <p:cNvPr id="13" name="TextBox 13"/>
            <p:cNvSpPr txBox="1"/>
            <p:nvPr/>
          </p:nvSpPr>
          <p:spPr>
            <a:xfrm>
              <a:off x="76200" y="9525"/>
              <a:ext cx="660400" cy="727075"/>
            </a:xfrm>
            <a:prstGeom prst="rect">
              <a:avLst/>
            </a:prstGeom>
          </p:spPr>
          <p:txBody>
            <a:bodyPr lIns="50800" tIns="50800" rIns="50800" bIns="50800" rtlCol="0" anchor="ctr"/>
            <a:lstStyle/>
            <a:p>
              <a:pPr algn="ctr">
                <a:lnSpc>
                  <a:spcPts val="3640"/>
                </a:lnSpc>
              </a:pPr>
              <a:endParaRPr/>
            </a:p>
          </p:txBody>
        </p:sp>
      </p:grpSp>
      <p:grpSp>
        <p:nvGrpSpPr>
          <p:cNvPr id="14" name="Group 14"/>
          <p:cNvGrpSpPr/>
          <p:nvPr/>
        </p:nvGrpSpPr>
        <p:grpSpPr>
          <a:xfrm>
            <a:off x="11346249" y="1625178"/>
            <a:ext cx="2534159" cy="2534159"/>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t="-125" b="-125"/>
              </a:stretch>
            </a:blipFill>
          </p:spPr>
          <p:txBody>
            <a:bodyPr/>
            <a:lstStyle/>
            <a:p>
              <a:endParaRPr lang="en-CA"/>
            </a:p>
          </p:txBody>
        </p:sp>
      </p:grpSp>
      <p:grpSp>
        <p:nvGrpSpPr>
          <p:cNvPr id="16" name="Group 16"/>
          <p:cNvGrpSpPr/>
          <p:nvPr/>
        </p:nvGrpSpPr>
        <p:grpSpPr>
          <a:xfrm>
            <a:off x="14598389" y="1625178"/>
            <a:ext cx="2534159" cy="2534159"/>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t="-38888" b="-38888"/>
              </a:stretch>
            </a:blipFill>
          </p:spPr>
          <p:txBody>
            <a:bodyPr/>
            <a:lstStyle/>
            <a:p>
              <a:endParaRPr lang="en-CA"/>
            </a:p>
          </p:txBody>
        </p:sp>
      </p:grpSp>
      <p:grpSp>
        <p:nvGrpSpPr>
          <p:cNvPr id="18" name="Group 18"/>
          <p:cNvGrpSpPr/>
          <p:nvPr/>
        </p:nvGrpSpPr>
        <p:grpSpPr>
          <a:xfrm>
            <a:off x="14598389" y="5647009"/>
            <a:ext cx="2534159" cy="2534159"/>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t="-11538" b="-11538"/>
              </a:stretch>
            </a:blipFill>
          </p:spPr>
          <p:txBody>
            <a:bodyPr/>
            <a:lstStyle/>
            <a:p>
              <a:endParaRPr lang="en-CA"/>
            </a:p>
          </p:txBody>
        </p:sp>
      </p:grpSp>
      <p:sp>
        <p:nvSpPr>
          <p:cNvPr id="20" name="AutoShape 20"/>
          <p:cNvSpPr/>
          <p:nvPr/>
        </p:nvSpPr>
        <p:spPr>
          <a:xfrm>
            <a:off x="1028700" y="5148262"/>
            <a:ext cx="2050229" cy="0"/>
          </a:xfrm>
          <a:prstGeom prst="line">
            <a:avLst/>
          </a:prstGeom>
          <a:ln w="85725" cap="flat">
            <a:solidFill>
              <a:srgbClr val="86B4C4"/>
            </a:solidFill>
            <a:prstDash val="solid"/>
            <a:headEnd type="none" w="sm" len="sm"/>
            <a:tailEnd type="none" w="sm" len="sm"/>
          </a:ln>
        </p:spPr>
        <p:txBody>
          <a:bodyPr/>
          <a:lstStyle/>
          <a:p>
            <a:endParaRPr lang="en-CA"/>
          </a:p>
        </p:txBody>
      </p:sp>
      <p:sp>
        <p:nvSpPr>
          <p:cNvPr id="21" name="TextBox 21"/>
          <p:cNvSpPr txBox="1"/>
          <p:nvPr/>
        </p:nvSpPr>
        <p:spPr>
          <a:xfrm>
            <a:off x="1028700" y="2542289"/>
            <a:ext cx="7110246" cy="1130300"/>
          </a:xfrm>
          <a:prstGeom prst="rect">
            <a:avLst/>
          </a:prstGeom>
        </p:spPr>
        <p:txBody>
          <a:bodyPr lIns="0" tIns="0" rIns="0" bIns="0" rtlCol="0" anchor="t">
            <a:spAutoFit/>
          </a:bodyPr>
          <a:lstStyle/>
          <a:p>
            <a:pPr algn="l">
              <a:lnSpc>
                <a:spcPts val="9099"/>
              </a:lnSpc>
            </a:pPr>
            <a:r>
              <a:rPr lang="en-US" sz="6999" spc="167">
                <a:solidFill>
                  <a:srgbClr val="FFFFFF"/>
                </a:solidFill>
                <a:latin typeface="League Spartan"/>
                <a:ea typeface="League Spartan"/>
                <a:cs typeface="League Spartan"/>
                <a:sym typeface="League Spartan"/>
              </a:rPr>
              <a:t>Our</a:t>
            </a:r>
          </a:p>
        </p:txBody>
      </p:sp>
      <p:sp>
        <p:nvSpPr>
          <p:cNvPr id="22" name="TextBox 22"/>
          <p:cNvSpPr txBox="1"/>
          <p:nvPr/>
        </p:nvSpPr>
        <p:spPr>
          <a:xfrm>
            <a:off x="1028700" y="3774738"/>
            <a:ext cx="9449914" cy="1130218"/>
          </a:xfrm>
          <a:prstGeom prst="rect">
            <a:avLst/>
          </a:prstGeom>
        </p:spPr>
        <p:txBody>
          <a:bodyPr lIns="0" tIns="0" rIns="0" bIns="0" rtlCol="0" anchor="t">
            <a:spAutoFit/>
          </a:bodyPr>
          <a:lstStyle/>
          <a:p>
            <a:pPr algn="l">
              <a:lnSpc>
                <a:spcPts val="9099"/>
              </a:lnSpc>
            </a:pPr>
            <a:r>
              <a:rPr lang="en-US" sz="6999" spc="167">
                <a:solidFill>
                  <a:srgbClr val="86B4C4"/>
                </a:solidFill>
                <a:latin typeface="League Spartan"/>
                <a:ea typeface="League Spartan"/>
                <a:cs typeface="League Spartan"/>
                <a:sym typeface="League Spartan"/>
              </a:rPr>
              <a:t>Professional Team</a:t>
            </a:r>
          </a:p>
        </p:txBody>
      </p:sp>
      <p:sp>
        <p:nvSpPr>
          <p:cNvPr id="23" name="TextBox 23"/>
          <p:cNvSpPr txBox="1"/>
          <p:nvPr/>
        </p:nvSpPr>
        <p:spPr>
          <a:xfrm>
            <a:off x="1028700" y="6597545"/>
            <a:ext cx="10022072" cy="3106419"/>
          </a:xfrm>
          <a:prstGeom prst="rect">
            <a:avLst/>
          </a:prstGeom>
        </p:spPr>
        <p:txBody>
          <a:bodyPr lIns="0" tIns="0" rIns="0" bIns="0" rtlCol="0" anchor="t">
            <a:spAutoFit/>
          </a:bodyPr>
          <a:lstStyle/>
          <a:p>
            <a:pPr algn="l">
              <a:lnSpc>
                <a:spcPts val="3080"/>
              </a:lnSpc>
            </a:pPr>
            <a:r>
              <a:rPr lang="en-US" sz="2200" spc="261">
                <a:solidFill>
                  <a:srgbClr val="000000"/>
                </a:solidFill>
                <a:latin typeface="Inter"/>
                <a:ea typeface="Inter"/>
                <a:cs typeface="Inter"/>
                <a:sym typeface="Inter"/>
              </a:rPr>
              <a:t>We are SecureSphere Technologies, a dedicated team of cybersecurity professionals specializing in delivering advanced cloud security solutions. With expertise in Zero Trust architecture, encryption, and access control, we ensure robust and scalable infrastructures tailored to meet our clients' unique needs. Our commitment to innovation and excellence drives us to secure the future of businesses across industries.</a:t>
            </a:r>
          </a:p>
        </p:txBody>
      </p:sp>
      <p:sp>
        <p:nvSpPr>
          <p:cNvPr id="24" name="TextBox 24"/>
          <p:cNvSpPr txBox="1"/>
          <p:nvPr/>
        </p:nvSpPr>
        <p:spPr>
          <a:xfrm>
            <a:off x="10869139" y="4446510"/>
            <a:ext cx="3469328" cy="779145"/>
          </a:xfrm>
          <a:prstGeom prst="rect">
            <a:avLst/>
          </a:prstGeom>
        </p:spPr>
        <p:txBody>
          <a:bodyPr lIns="0" tIns="0" rIns="0" bIns="0" rtlCol="0" anchor="t">
            <a:spAutoFit/>
          </a:bodyPr>
          <a:lstStyle/>
          <a:p>
            <a:pPr algn="ctr">
              <a:lnSpc>
                <a:spcPts val="3120"/>
              </a:lnSpc>
            </a:pPr>
            <a:r>
              <a:rPr lang="en-US" sz="2400" spc="57">
                <a:solidFill>
                  <a:srgbClr val="FFFFFF"/>
                </a:solidFill>
                <a:latin typeface="League Spartan"/>
                <a:ea typeface="League Spartan"/>
                <a:cs typeface="League Spartan"/>
                <a:sym typeface="League Spartan"/>
              </a:rPr>
              <a:t>Devarshi Mahadevwala</a:t>
            </a:r>
          </a:p>
        </p:txBody>
      </p:sp>
      <p:sp>
        <p:nvSpPr>
          <p:cNvPr id="25" name="TextBox 25"/>
          <p:cNvSpPr txBox="1"/>
          <p:nvPr/>
        </p:nvSpPr>
        <p:spPr>
          <a:xfrm>
            <a:off x="14130804" y="4463972"/>
            <a:ext cx="3469328" cy="388620"/>
          </a:xfrm>
          <a:prstGeom prst="rect">
            <a:avLst/>
          </a:prstGeom>
        </p:spPr>
        <p:txBody>
          <a:bodyPr lIns="0" tIns="0" rIns="0" bIns="0" rtlCol="0" anchor="t">
            <a:spAutoFit/>
          </a:bodyPr>
          <a:lstStyle/>
          <a:p>
            <a:pPr algn="ctr">
              <a:lnSpc>
                <a:spcPts val="3120"/>
              </a:lnSpc>
            </a:pPr>
            <a:r>
              <a:rPr lang="en-US" sz="2400" spc="57">
                <a:solidFill>
                  <a:srgbClr val="FFFFFF"/>
                </a:solidFill>
                <a:latin typeface="League Spartan"/>
                <a:ea typeface="League Spartan"/>
                <a:cs typeface="League Spartan"/>
                <a:sym typeface="League Spartan"/>
              </a:rPr>
              <a:t>Gautam Kumar</a:t>
            </a:r>
          </a:p>
        </p:txBody>
      </p:sp>
      <p:sp>
        <p:nvSpPr>
          <p:cNvPr id="26" name="TextBox 26"/>
          <p:cNvSpPr txBox="1"/>
          <p:nvPr/>
        </p:nvSpPr>
        <p:spPr>
          <a:xfrm>
            <a:off x="14140329" y="8622245"/>
            <a:ext cx="3469328" cy="388620"/>
          </a:xfrm>
          <a:prstGeom prst="rect">
            <a:avLst/>
          </a:prstGeom>
        </p:spPr>
        <p:txBody>
          <a:bodyPr lIns="0" tIns="0" rIns="0" bIns="0" rtlCol="0" anchor="t">
            <a:spAutoFit/>
          </a:bodyPr>
          <a:lstStyle/>
          <a:p>
            <a:pPr algn="ctr">
              <a:lnSpc>
                <a:spcPts val="3120"/>
              </a:lnSpc>
            </a:pPr>
            <a:r>
              <a:rPr lang="en-US" sz="2400" spc="57">
                <a:solidFill>
                  <a:srgbClr val="598196"/>
                </a:solidFill>
                <a:latin typeface="League Spartan"/>
                <a:ea typeface="League Spartan"/>
                <a:cs typeface="League Spartan"/>
                <a:sym typeface="League Spartan"/>
              </a:rPr>
              <a:t>Saima Anam Syed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336975" y="0"/>
            <a:ext cx="13196926" cy="10815302"/>
            <a:chOff x="0" y="0"/>
            <a:chExt cx="812800" cy="666116"/>
          </a:xfrm>
        </p:grpSpPr>
        <p:sp>
          <p:nvSpPr>
            <p:cNvPr id="3" name="Freeform 3"/>
            <p:cNvSpPr/>
            <p:nvPr/>
          </p:nvSpPr>
          <p:spPr>
            <a:xfrm>
              <a:off x="0" y="0"/>
              <a:ext cx="812800" cy="666116"/>
            </a:xfrm>
            <a:custGeom>
              <a:avLst/>
              <a:gdLst/>
              <a:ahLst/>
              <a:cxnLst/>
              <a:rect l="l" t="t" r="r" b="b"/>
              <a:pathLst>
                <a:path w="812800" h="666116">
                  <a:moveTo>
                    <a:pt x="609600" y="0"/>
                  </a:moveTo>
                  <a:lnTo>
                    <a:pt x="0" y="0"/>
                  </a:lnTo>
                  <a:lnTo>
                    <a:pt x="203200" y="666116"/>
                  </a:lnTo>
                  <a:lnTo>
                    <a:pt x="812800" y="666116"/>
                  </a:lnTo>
                  <a:lnTo>
                    <a:pt x="609600" y="0"/>
                  </a:lnTo>
                  <a:close/>
                </a:path>
              </a:pathLst>
            </a:custGeom>
            <a:blipFill>
              <a:blip r:embed="rId2"/>
              <a:stretch>
                <a:fillRect l="-11503" r="-11503"/>
              </a:stretch>
            </a:blipFill>
          </p:spPr>
          <p:txBody>
            <a:bodyPr/>
            <a:lstStyle/>
            <a:p>
              <a:endParaRPr lang="en-CA"/>
            </a:p>
          </p:txBody>
        </p:sp>
      </p:grpSp>
      <p:grpSp>
        <p:nvGrpSpPr>
          <p:cNvPr id="4" name="Group 4"/>
          <p:cNvGrpSpPr/>
          <p:nvPr/>
        </p:nvGrpSpPr>
        <p:grpSpPr>
          <a:xfrm>
            <a:off x="-647723" y="4676318"/>
            <a:ext cx="18288000" cy="4581982"/>
            <a:chOff x="0" y="0"/>
            <a:chExt cx="4816593" cy="1206777"/>
          </a:xfrm>
        </p:grpSpPr>
        <p:sp>
          <p:nvSpPr>
            <p:cNvPr id="5" name="Freeform 5"/>
            <p:cNvSpPr/>
            <p:nvPr/>
          </p:nvSpPr>
          <p:spPr>
            <a:xfrm>
              <a:off x="0" y="0"/>
              <a:ext cx="4816592" cy="1206777"/>
            </a:xfrm>
            <a:custGeom>
              <a:avLst/>
              <a:gdLst/>
              <a:ahLst/>
              <a:cxnLst/>
              <a:rect l="l" t="t" r="r" b="b"/>
              <a:pathLst>
                <a:path w="4816592" h="1206777">
                  <a:moveTo>
                    <a:pt x="21590" y="0"/>
                  </a:moveTo>
                  <a:lnTo>
                    <a:pt x="4795002" y="0"/>
                  </a:lnTo>
                  <a:cubicBezTo>
                    <a:pt x="4800728" y="0"/>
                    <a:pt x="4806220" y="2275"/>
                    <a:pt x="4810269" y="6324"/>
                  </a:cubicBezTo>
                  <a:cubicBezTo>
                    <a:pt x="4814318" y="10372"/>
                    <a:pt x="4816592" y="15864"/>
                    <a:pt x="4816592" y="21590"/>
                  </a:cubicBezTo>
                  <a:lnTo>
                    <a:pt x="4816592" y="1185187"/>
                  </a:lnTo>
                  <a:cubicBezTo>
                    <a:pt x="4816592" y="1197111"/>
                    <a:pt x="4806926" y="1206777"/>
                    <a:pt x="4795002" y="1206777"/>
                  </a:cubicBezTo>
                  <a:lnTo>
                    <a:pt x="21590" y="1206777"/>
                  </a:lnTo>
                  <a:cubicBezTo>
                    <a:pt x="9666" y="1206777"/>
                    <a:pt x="0" y="1197111"/>
                    <a:pt x="0" y="1185187"/>
                  </a:cubicBezTo>
                  <a:lnTo>
                    <a:pt x="0" y="21590"/>
                  </a:lnTo>
                  <a:cubicBezTo>
                    <a:pt x="0" y="9666"/>
                    <a:pt x="9666" y="0"/>
                    <a:pt x="21590" y="0"/>
                  </a:cubicBezTo>
                  <a:close/>
                </a:path>
              </a:pathLst>
            </a:custGeom>
            <a:solidFill>
              <a:srgbClr val="2B485F"/>
            </a:solidFill>
          </p:spPr>
          <p:txBody>
            <a:bodyPr/>
            <a:lstStyle/>
            <a:p>
              <a:endParaRPr lang="en-CA"/>
            </a:p>
          </p:txBody>
        </p:sp>
        <p:sp>
          <p:nvSpPr>
            <p:cNvPr id="6" name="TextBox 6"/>
            <p:cNvSpPr txBox="1"/>
            <p:nvPr/>
          </p:nvSpPr>
          <p:spPr>
            <a:xfrm>
              <a:off x="0" y="-66675"/>
              <a:ext cx="4816593" cy="1273452"/>
            </a:xfrm>
            <a:prstGeom prst="rect">
              <a:avLst/>
            </a:prstGeom>
          </p:spPr>
          <p:txBody>
            <a:bodyPr lIns="50800" tIns="50800" rIns="50800" bIns="50800" rtlCol="0" anchor="ctr"/>
            <a:lstStyle/>
            <a:p>
              <a:pPr algn="ctr">
                <a:lnSpc>
                  <a:spcPts val="3640"/>
                </a:lnSpc>
              </a:pPr>
              <a:endParaRPr/>
            </a:p>
          </p:txBody>
        </p:sp>
      </p:grpSp>
      <p:sp>
        <p:nvSpPr>
          <p:cNvPr id="7" name="AutoShape 7"/>
          <p:cNvSpPr/>
          <p:nvPr/>
        </p:nvSpPr>
        <p:spPr>
          <a:xfrm>
            <a:off x="914616" y="3850579"/>
            <a:ext cx="2050229" cy="0"/>
          </a:xfrm>
          <a:prstGeom prst="line">
            <a:avLst/>
          </a:prstGeom>
          <a:ln w="85725" cap="flat">
            <a:solidFill>
              <a:srgbClr val="365679"/>
            </a:solidFill>
            <a:prstDash val="solid"/>
            <a:headEnd type="none" w="sm" len="sm"/>
            <a:tailEnd type="none" w="sm" len="sm"/>
          </a:ln>
        </p:spPr>
        <p:txBody>
          <a:bodyPr/>
          <a:lstStyle/>
          <a:p>
            <a:endParaRPr lang="en-CA"/>
          </a:p>
        </p:txBody>
      </p:sp>
      <p:sp>
        <p:nvSpPr>
          <p:cNvPr id="8" name="TextBox 8"/>
          <p:cNvSpPr txBox="1"/>
          <p:nvPr/>
        </p:nvSpPr>
        <p:spPr>
          <a:xfrm>
            <a:off x="905091" y="2553738"/>
            <a:ext cx="9655690" cy="1130235"/>
          </a:xfrm>
          <a:prstGeom prst="rect">
            <a:avLst/>
          </a:prstGeom>
        </p:spPr>
        <p:txBody>
          <a:bodyPr lIns="0" tIns="0" rIns="0" bIns="0" rtlCol="0" anchor="t">
            <a:spAutoFit/>
          </a:bodyPr>
          <a:lstStyle/>
          <a:p>
            <a:pPr algn="l">
              <a:lnSpc>
                <a:spcPts val="9106"/>
              </a:lnSpc>
            </a:pPr>
            <a:r>
              <a:rPr lang="en-US" sz="7005" spc="168">
                <a:solidFill>
                  <a:srgbClr val="365679"/>
                </a:solidFill>
                <a:latin typeface="League Spartan"/>
                <a:ea typeface="League Spartan"/>
                <a:cs typeface="League Spartan"/>
                <a:sym typeface="League Spartan"/>
              </a:rPr>
              <a:t>Executive Summary</a:t>
            </a:r>
          </a:p>
        </p:txBody>
      </p:sp>
      <p:sp>
        <p:nvSpPr>
          <p:cNvPr id="9" name="TextBox 9"/>
          <p:cNvSpPr txBox="1"/>
          <p:nvPr/>
        </p:nvSpPr>
        <p:spPr>
          <a:xfrm>
            <a:off x="905091" y="5893423"/>
            <a:ext cx="3359765" cy="503555"/>
          </a:xfrm>
          <a:prstGeom prst="rect">
            <a:avLst/>
          </a:prstGeom>
        </p:spPr>
        <p:txBody>
          <a:bodyPr lIns="0" tIns="0" rIns="0" bIns="0" rtlCol="0" anchor="t">
            <a:spAutoFit/>
          </a:bodyPr>
          <a:lstStyle/>
          <a:p>
            <a:pPr algn="l">
              <a:lnSpc>
                <a:spcPts val="4029"/>
              </a:lnSpc>
            </a:pPr>
            <a:r>
              <a:rPr lang="en-US" sz="3099" spc="74">
                <a:solidFill>
                  <a:srgbClr val="FFFFFF"/>
                </a:solidFill>
                <a:latin typeface="League Spartan"/>
                <a:ea typeface="League Spartan"/>
                <a:cs typeface="League Spartan"/>
                <a:sym typeface="League Spartan"/>
              </a:rPr>
              <a:t>Client Problem </a:t>
            </a:r>
          </a:p>
        </p:txBody>
      </p:sp>
      <p:sp>
        <p:nvSpPr>
          <p:cNvPr id="10" name="TextBox 10"/>
          <p:cNvSpPr txBox="1"/>
          <p:nvPr/>
        </p:nvSpPr>
        <p:spPr>
          <a:xfrm>
            <a:off x="905091" y="6541794"/>
            <a:ext cx="3733788" cy="2325369"/>
          </a:xfrm>
          <a:prstGeom prst="rect">
            <a:avLst/>
          </a:prstGeom>
        </p:spPr>
        <p:txBody>
          <a:bodyPr lIns="0" tIns="0" rIns="0" bIns="0" rtlCol="0" anchor="t">
            <a:spAutoFit/>
          </a:bodyPr>
          <a:lstStyle/>
          <a:p>
            <a:pPr algn="l">
              <a:lnSpc>
                <a:spcPts val="3080"/>
              </a:lnSpc>
            </a:pPr>
            <a:r>
              <a:rPr lang="en-US" sz="2200" spc="261">
                <a:solidFill>
                  <a:srgbClr val="FFFFFF"/>
                </a:solidFill>
                <a:latin typeface="Inter"/>
                <a:ea typeface="Inter"/>
                <a:cs typeface="Inter"/>
                <a:sym typeface="Inter"/>
              </a:rPr>
              <a:t>High risk of cyberattacks and compliance challenges in industries like finance and e-commerce.</a:t>
            </a:r>
          </a:p>
        </p:txBody>
      </p:sp>
      <p:sp>
        <p:nvSpPr>
          <p:cNvPr id="11" name="TextBox 11"/>
          <p:cNvSpPr txBox="1"/>
          <p:nvPr/>
        </p:nvSpPr>
        <p:spPr>
          <a:xfrm>
            <a:off x="6696498" y="5893423"/>
            <a:ext cx="3014129" cy="503555"/>
          </a:xfrm>
          <a:prstGeom prst="rect">
            <a:avLst/>
          </a:prstGeom>
        </p:spPr>
        <p:txBody>
          <a:bodyPr lIns="0" tIns="0" rIns="0" bIns="0" rtlCol="0" anchor="t">
            <a:spAutoFit/>
          </a:bodyPr>
          <a:lstStyle/>
          <a:p>
            <a:pPr algn="l">
              <a:lnSpc>
                <a:spcPts val="4029"/>
              </a:lnSpc>
            </a:pPr>
            <a:r>
              <a:rPr lang="en-US" sz="3099" spc="74">
                <a:solidFill>
                  <a:srgbClr val="FFFFFF"/>
                </a:solidFill>
                <a:latin typeface="League Spartan"/>
                <a:ea typeface="League Spartan"/>
                <a:cs typeface="League Spartan"/>
                <a:sym typeface="League Spartan"/>
              </a:rPr>
              <a:t>Our Solution</a:t>
            </a:r>
          </a:p>
        </p:txBody>
      </p:sp>
      <p:sp>
        <p:nvSpPr>
          <p:cNvPr id="12" name="TextBox 12"/>
          <p:cNvSpPr txBox="1"/>
          <p:nvPr/>
        </p:nvSpPr>
        <p:spPr>
          <a:xfrm>
            <a:off x="6696498" y="6541794"/>
            <a:ext cx="3732907" cy="2325369"/>
          </a:xfrm>
          <a:prstGeom prst="rect">
            <a:avLst/>
          </a:prstGeom>
        </p:spPr>
        <p:txBody>
          <a:bodyPr lIns="0" tIns="0" rIns="0" bIns="0" rtlCol="0" anchor="t">
            <a:spAutoFit/>
          </a:bodyPr>
          <a:lstStyle/>
          <a:p>
            <a:pPr algn="l">
              <a:lnSpc>
                <a:spcPts val="3080"/>
              </a:lnSpc>
            </a:pPr>
            <a:r>
              <a:rPr lang="en-US" sz="2200" spc="261">
                <a:solidFill>
                  <a:srgbClr val="FFFFFF"/>
                </a:solidFill>
                <a:latin typeface="Inter"/>
                <a:ea typeface="Inter"/>
                <a:cs typeface="Inter"/>
                <a:sym typeface="Inter"/>
              </a:rPr>
              <a:t>A comprehensive Zero Trust-based cloud infrastructure secured with DNSSEC, SSL/TLS, and Cloudflare services.</a:t>
            </a:r>
          </a:p>
        </p:txBody>
      </p:sp>
      <p:sp>
        <p:nvSpPr>
          <p:cNvPr id="13" name="TextBox 13"/>
          <p:cNvSpPr txBox="1"/>
          <p:nvPr/>
        </p:nvSpPr>
        <p:spPr>
          <a:xfrm>
            <a:off x="12486805" y="5893423"/>
            <a:ext cx="4159049" cy="503555"/>
          </a:xfrm>
          <a:prstGeom prst="rect">
            <a:avLst/>
          </a:prstGeom>
        </p:spPr>
        <p:txBody>
          <a:bodyPr lIns="0" tIns="0" rIns="0" bIns="0" rtlCol="0" anchor="t">
            <a:spAutoFit/>
          </a:bodyPr>
          <a:lstStyle/>
          <a:p>
            <a:pPr algn="l">
              <a:lnSpc>
                <a:spcPts val="4029"/>
              </a:lnSpc>
            </a:pPr>
            <a:r>
              <a:rPr lang="en-US" sz="3099" spc="74">
                <a:solidFill>
                  <a:srgbClr val="FFFFFF"/>
                </a:solidFill>
                <a:latin typeface="League Spartan"/>
                <a:ea typeface="League Spartan"/>
                <a:cs typeface="League Spartan"/>
                <a:sym typeface="League Spartan"/>
              </a:rPr>
              <a:t>Impact for Clients</a:t>
            </a:r>
          </a:p>
        </p:txBody>
      </p:sp>
      <p:sp>
        <p:nvSpPr>
          <p:cNvPr id="14" name="TextBox 14"/>
          <p:cNvSpPr txBox="1"/>
          <p:nvPr/>
        </p:nvSpPr>
        <p:spPr>
          <a:xfrm>
            <a:off x="12486805" y="6541794"/>
            <a:ext cx="3772224" cy="1934844"/>
          </a:xfrm>
          <a:prstGeom prst="rect">
            <a:avLst/>
          </a:prstGeom>
        </p:spPr>
        <p:txBody>
          <a:bodyPr lIns="0" tIns="0" rIns="0" bIns="0" rtlCol="0" anchor="t">
            <a:spAutoFit/>
          </a:bodyPr>
          <a:lstStyle/>
          <a:p>
            <a:pPr algn="l">
              <a:lnSpc>
                <a:spcPts val="3080"/>
              </a:lnSpc>
            </a:pPr>
            <a:r>
              <a:rPr lang="en-US" sz="2200" spc="261">
                <a:solidFill>
                  <a:srgbClr val="FFFFFF"/>
                </a:solidFill>
                <a:latin typeface="Inter"/>
                <a:ea typeface="Inter"/>
                <a:cs typeface="Inter"/>
                <a:sym typeface="Inter"/>
              </a:rPr>
              <a:t>Protection against data breaches, regulatory compliance, and enhanced customer trust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7200900"/>
            <a:ext cx="18288000" cy="3086100"/>
            <a:chOff x="0" y="0"/>
            <a:chExt cx="4816593" cy="812800"/>
          </a:xfrm>
        </p:grpSpPr>
        <p:sp>
          <p:nvSpPr>
            <p:cNvPr id="3" name="Freeform 3"/>
            <p:cNvSpPr/>
            <p:nvPr/>
          </p:nvSpPr>
          <p:spPr>
            <a:xfrm>
              <a:off x="0" y="0"/>
              <a:ext cx="4816592" cy="812800"/>
            </a:xfrm>
            <a:custGeom>
              <a:avLst/>
              <a:gdLst/>
              <a:ahLst/>
              <a:cxnLst/>
              <a:rect l="l" t="t" r="r" b="b"/>
              <a:pathLst>
                <a:path w="4816592" h="812800">
                  <a:moveTo>
                    <a:pt x="0" y="0"/>
                  </a:moveTo>
                  <a:lnTo>
                    <a:pt x="4816592" y="0"/>
                  </a:lnTo>
                  <a:lnTo>
                    <a:pt x="4816592" y="812800"/>
                  </a:lnTo>
                  <a:lnTo>
                    <a:pt x="0" y="812800"/>
                  </a:lnTo>
                  <a:close/>
                </a:path>
              </a:pathLst>
            </a:custGeom>
            <a:solidFill>
              <a:srgbClr val="2B485F"/>
            </a:solidFill>
          </p:spPr>
          <p:txBody>
            <a:bodyPr/>
            <a:lstStyle/>
            <a:p>
              <a:endParaRPr lang="en-CA"/>
            </a:p>
          </p:txBody>
        </p:sp>
        <p:sp>
          <p:nvSpPr>
            <p:cNvPr id="4" name="TextBox 4"/>
            <p:cNvSpPr txBox="1"/>
            <p:nvPr/>
          </p:nvSpPr>
          <p:spPr>
            <a:xfrm>
              <a:off x="0" y="-66675"/>
              <a:ext cx="4816593" cy="879475"/>
            </a:xfrm>
            <a:prstGeom prst="rect">
              <a:avLst/>
            </a:prstGeom>
          </p:spPr>
          <p:txBody>
            <a:bodyPr lIns="50800" tIns="50800" rIns="50800" bIns="50800" rtlCol="0" anchor="ctr"/>
            <a:lstStyle/>
            <a:p>
              <a:pPr algn="ctr">
                <a:lnSpc>
                  <a:spcPts val="3640"/>
                </a:lnSpc>
              </a:pPr>
              <a:endParaRPr/>
            </a:p>
          </p:txBody>
        </p:sp>
      </p:grpSp>
      <p:grpSp>
        <p:nvGrpSpPr>
          <p:cNvPr id="5" name="Group 5"/>
          <p:cNvGrpSpPr/>
          <p:nvPr/>
        </p:nvGrpSpPr>
        <p:grpSpPr>
          <a:xfrm>
            <a:off x="8222956" y="0"/>
            <a:ext cx="12379272" cy="10741258"/>
            <a:chOff x="0" y="0"/>
            <a:chExt cx="853424" cy="740500"/>
          </a:xfrm>
        </p:grpSpPr>
        <p:sp>
          <p:nvSpPr>
            <p:cNvPr id="6" name="Freeform 6"/>
            <p:cNvSpPr/>
            <p:nvPr/>
          </p:nvSpPr>
          <p:spPr>
            <a:xfrm>
              <a:off x="0" y="0"/>
              <a:ext cx="853424" cy="740500"/>
            </a:xfrm>
            <a:custGeom>
              <a:avLst/>
              <a:gdLst/>
              <a:ahLst/>
              <a:cxnLst/>
              <a:rect l="l" t="t" r="r" b="b"/>
              <a:pathLst>
                <a:path w="853424" h="740500">
                  <a:moveTo>
                    <a:pt x="203200" y="0"/>
                  </a:moveTo>
                  <a:lnTo>
                    <a:pt x="853424" y="0"/>
                  </a:lnTo>
                  <a:lnTo>
                    <a:pt x="650224" y="740500"/>
                  </a:lnTo>
                  <a:lnTo>
                    <a:pt x="0" y="740500"/>
                  </a:lnTo>
                  <a:lnTo>
                    <a:pt x="203200" y="0"/>
                  </a:lnTo>
                  <a:close/>
                </a:path>
              </a:pathLst>
            </a:custGeom>
            <a:solidFill>
              <a:srgbClr val="2B485F"/>
            </a:solidFill>
          </p:spPr>
          <p:txBody>
            <a:bodyPr/>
            <a:lstStyle/>
            <a:p>
              <a:endParaRPr lang="en-CA"/>
            </a:p>
          </p:txBody>
        </p:sp>
        <p:sp>
          <p:nvSpPr>
            <p:cNvPr id="7" name="TextBox 7"/>
            <p:cNvSpPr txBox="1"/>
            <p:nvPr/>
          </p:nvSpPr>
          <p:spPr>
            <a:xfrm>
              <a:off x="101600" y="-66675"/>
              <a:ext cx="650224" cy="807175"/>
            </a:xfrm>
            <a:prstGeom prst="rect">
              <a:avLst/>
            </a:prstGeom>
          </p:spPr>
          <p:txBody>
            <a:bodyPr lIns="50800" tIns="50800" rIns="50800" bIns="50800" rtlCol="0" anchor="ctr"/>
            <a:lstStyle/>
            <a:p>
              <a:pPr algn="ctr">
                <a:lnSpc>
                  <a:spcPts val="3640"/>
                </a:lnSpc>
              </a:pPr>
              <a:endParaRPr/>
            </a:p>
          </p:txBody>
        </p:sp>
      </p:grpSp>
      <p:sp>
        <p:nvSpPr>
          <p:cNvPr id="8" name="AutoShape 8"/>
          <p:cNvSpPr/>
          <p:nvPr/>
        </p:nvSpPr>
        <p:spPr>
          <a:xfrm>
            <a:off x="1028700" y="3777573"/>
            <a:ext cx="2050229" cy="0"/>
          </a:xfrm>
          <a:prstGeom prst="line">
            <a:avLst/>
          </a:prstGeom>
          <a:ln w="85725" cap="flat">
            <a:solidFill>
              <a:srgbClr val="365679"/>
            </a:solidFill>
            <a:prstDash val="solid"/>
            <a:headEnd type="none" w="sm" len="sm"/>
            <a:tailEnd type="none" w="sm" len="sm"/>
          </a:ln>
        </p:spPr>
        <p:txBody>
          <a:bodyPr/>
          <a:lstStyle/>
          <a:p>
            <a:endParaRPr lang="en-CA"/>
          </a:p>
        </p:txBody>
      </p:sp>
      <p:sp>
        <p:nvSpPr>
          <p:cNvPr id="9" name="Freeform 9"/>
          <p:cNvSpPr/>
          <p:nvPr/>
        </p:nvSpPr>
        <p:spPr>
          <a:xfrm>
            <a:off x="9144000" y="328332"/>
            <a:ext cx="8862683" cy="6768094"/>
          </a:xfrm>
          <a:custGeom>
            <a:avLst/>
            <a:gdLst/>
            <a:ahLst/>
            <a:cxnLst/>
            <a:rect l="l" t="t" r="r" b="b"/>
            <a:pathLst>
              <a:path w="8862683" h="6768094">
                <a:moveTo>
                  <a:pt x="0" y="0"/>
                </a:moveTo>
                <a:lnTo>
                  <a:pt x="8862683" y="0"/>
                </a:lnTo>
                <a:lnTo>
                  <a:pt x="8862683" y="6768093"/>
                </a:lnTo>
                <a:lnTo>
                  <a:pt x="0" y="6768093"/>
                </a:lnTo>
                <a:lnTo>
                  <a:pt x="0" y="0"/>
                </a:lnTo>
                <a:close/>
              </a:path>
            </a:pathLst>
          </a:custGeom>
          <a:blipFill>
            <a:blip r:embed="rId2"/>
            <a:stretch>
              <a:fillRect b="-666"/>
            </a:stretch>
          </a:blipFill>
        </p:spPr>
        <p:txBody>
          <a:bodyPr/>
          <a:lstStyle/>
          <a:p>
            <a:endParaRPr lang="en-CA"/>
          </a:p>
        </p:txBody>
      </p:sp>
      <p:sp>
        <p:nvSpPr>
          <p:cNvPr id="10" name="TextBox 10"/>
          <p:cNvSpPr txBox="1"/>
          <p:nvPr/>
        </p:nvSpPr>
        <p:spPr>
          <a:xfrm>
            <a:off x="1028700" y="2285968"/>
            <a:ext cx="7568352" cy="1130300"/>
          </a:xfrm>
          <a:prstGeom prst="rect">
            <a:avLst/>
          </a:prstGeom>
        </p:spPr>
        <p:txBody>
          <a:bodyPr lIns="0" tIns="0" rIns="0" bIns="0" rtlCol="0" anchor="t">
            <a:spAutoFit/>
          </a:bodyPr>
          <a:lstStyle/>
          <a:p>
            <a:pPr algn="l">
              <a:lnSpc>
                <a:spcPts val="9099"/>
              </a:lnSpc>
            </a:pPr>
            <a:r>
              <a:rPr lang="en-US" sz="6999" spc="167">
                <a:solidFill>
                  <a:srgbClr val="365679"/>
                </a:solidFill>
                <a:latin typeface="League Spartan"/>
                <a:ea typeface="League Spartan"/>
                <a:cs typeface="League Spartan"/>
                <a:sym typeface="League Spartan"/>
              </a:rPr>
              <a:t>Project Scope</a:t>
            </a:r>
          </a:p>
        </p:txBody>
      </p:sp>
      <p:sp>
        <p:nvSpPr>
          <p:cNvPr id="11" name="TextBox 11"/>
          <p:cNvSpPr txBox="1"/>
          <p:nvPr/>
        </p:nvSpPr>
        <p:spPr>
          <a:xfrm>
            <a:off x="1028700" y="4517355"/>
            <a:ext cx="7045089" cy="1544319"/>
          </a:xfrm>
          <a:prstGeom prst="rect">
            <a:avLst/>
          </a:prstGeom>
        </p:spPr>
        <p:txBody>
          <a:bodyPr lIns="0" tIns="0" rIns="0" bIns="0" rtlCol="0" anchor="t">
            <a:spAutoFit/>
          </a:bodyPr>
          <a:lstStyle/>
          <a:p>
            <a:pPr algn="l">
              <a:lnSpc>
                <a:spcPts val="3080"/>
              </a:lnSpc>
            </a:pPr>
            <a:r>
              <a:rPr lang="en-US" sz="2200" spc="261">
                <a:solidFill>
                  <a:srgbClr val="000000"/>
                </a:solidFill>
                <a:latin typeface="Inter"/>
                <a:ea typeface="Inter"/>
                <a:cs typeface="Inter"/>
                <a:sym typeface="Inter"/>
              </a:rPr>
              <a:t>Business Context:</a:t>
            </a:r>
          </a:p>
          <a:p>
            <a:pPr algn="l">
              <a:lnSpc>
                <a:spcPts val="3080"/>
              </a:lnSpc>
            </a:pPr>
            <a:r>
              <a:rPr lang="en-US" sz="2200" spc="261">
                <a:solidFill>
                  <a:srgbClr val="000000"/>
                </a:solidFill>
                <a:latin typeface="Inter"/>
                <a:ea typeface="Inter"/>
                <a:cs typeface="Inter"/>
                <a:sym typeface="Inter"/>
              </a:rPr>
              <a:t>Financial and e-commerce clients require secure, compliant cloud systems to handle sensitive customer and transaction data.</a:t>
            </a:r>
          </a:p>
        </p:txBody>
      </p:sp>
      <p:sp>
        <p:nvSpPr>
          <p:cNvPr id="12" name="TextBox 12"/>
          <p:cNvSpPr txBox="1"/>
          <p:nvPr/>
        </p:nvSpPr>
        <p:spPr>
          <a:xfrm>
            <a:off x="905091" y="7935109"/>
            <a:ext cx="10668868" cy="1153794"/>
          </a:xfrm>
          <a:prstGeom prst="rect">
            <a:avLst/>
          </a:prstGeom>
        </p:spPr>
        <p:txBody>
          <a:bodyPr lIns="0" tIns="0" rIns="0" bIns="0" rtlCol="0" anchor="t">
            <a:spAutoFit/>
          </a:bodyPr>
          <a:lstStyle/>
          <a:p>
            <a:pPr algn="l">
              <a:lnSpc>
                <a:spcPts val="3080"/>
              </a:lnSpc>
            </a:pPr>
            <a:r>
              <a:rPr lang="en-US" sz="2200" spc="261">
                <a:solidFill>
                  <a:srgbClr val="FFFFFF"/>
                </a:solidFill>
                <a:latin typeface="Inter"/>
                <a:ea typeface="Inter"/>
                <a:cs typeface="Inter"/>
                <a:sym typeface="Inter"/>
              </a:rPr>
              <a:t>Our Value Proposition:</a:t>
            </a:r>
          </a:p>
          <a:p>
            <a:pPr algn="l">
              <a:lnSpc>
                <a:spcPts val="3080"/>
              </a:lnSpc>
            </a:pPr>
            <a:r>
              <a:rPr lang="en-US" sz="2200" spc="261">
                <a:solidFill>
                  <a:srgbClr val="FFFFFF"/>
                </a:solidFill>
                <a:latin typeface="Inter"/>
                <a:ea typeface="Inter"/>
                <a:cs typeface="Inter"/>
                <a:sym typeface="Inter"/>
              </a:rPr>
              <a:t> Seamless, scalable solutions tailored to client needs. Industry-standard compliance with GDPR and PCI DSS.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5112380" y="-148194"/>
            <a:ext cx="12727251" cy="12193285"/>
            <a:chOff x="0" y="0"/>
            <a:chExt cx="524208" cy="502215"/>
          </a:xfrm>
        </p:grpSpPr>
        <p:sp>
          <p:nvSpPr>
            <p:cNvPr id="3" name="Freeform 3"/>
            <p:cNvSpPr/>
            <p:nvPr/>
          </p:nvSpPr>
          <p:spPr>
            <a:xfrm>
              <a:off x="0" y="0"/>
              <a:ext cx="524208" cy="502215"/>
            </a:xfrm>
            <a:custGeom>
              <a:avLst/>
              <a:gdLst/>
              <a:ahLst/>
              <a:cxnLst/>
              <a:rect l="l" t="t" r="r" b="b"/>
              <a:pathLst>
                <a:path w="524208" h="502215">
                  <a:moveTo>
                    <a:pt x="203200" y="0"/>
                  </a:moveTo>
                  <a:lnTo>
                    <a:pt x="524208" y="0"/>
                  </a:lnTo>
                  <a:lnTo>
                    <a:pt x="321008" y="502215"/>
                  </a:lnTo>
                  <a:lnTo>
                    <a:pt x="0" y="502215"/>
                  </a:lnTo>
                  <a:lnTo>
                    <a:pt x="203200" y="0"/>
                  </a:lnTo>
                  <a:close/>
                </a:path>
              </a:pathLst>
            </a:custGeom>
            <a:solidFill>
              <a:srgbClr val="2B485F"/>
            </a:solidFill>
          </p:spPr>
          <p:txBody>
            <a:bodyPr/>
            <a:lstStyle/>
            <a:p>
              <a:endParaRPr lang="en-CA"/>
            </a:p>
          </p:txBody>
        </p:sp>
        <p:sp>
          <p:nvSpPr>
            <p:cNvPr id="4" name="TextBox 4"/>
            <p:cNvSpPr txBox="1"/>
            <p:nvPr/>
          </p:nvSpPr>
          <p:spPr>
            <a:xfrm>
              <a:off x="101600" y="-66675"/>
              <a:ext cx="321008" cy="568890"/>
            </a:xfrm>
            <a:prstGeom prst="rect">
              <a:avLst/>
            </a:prstGeom>
          </p:spPr>
          <p:txBody>
            <a:bodyPr lIns="50800" tIns="50800" rIns="50800" bIns="50800" rtlCol="0" anchor="ctr"/>
            <a:lstStyle/>
            <a:p>
              <a:pPr algn="ctr">
                <a:lnSpc>
                  <a:spcPts val="3640"/>
                </a:lnSpc>
              </a:pPr>
              <a:endParaRPr/>
            </a:p>
          </p:txBody>
        </p:sp>
      </p:grpSp>
      <p:grpSp>
        <p:nvGrpSpPr>
          <p:cNvPr id="5" name="Group 5"/>
          <p:cNvGrpSpPr/>
          <p:nvPr/>
        </p:nvGrpSpPr>
        <p:grpSpPr>
          <a:xfrm>
            <a:off x="1028700" y="2163302"/>
            <a:ext cx="7094998" cy="7094998"/>
            <a:chOff x="0" y="0"/>
            <a:chExt cx="812800" cy="812800"/>
          </a:xfrm>
        </p:grpSpPr>
        <p:sp>
          <p:nvSpPr>
            <p:cNvPr id="6" name="Freeform 6"/>
            <p:cNvSpPr/>
            <p:nvPr/>
          </p:nvSpPr>
          <p:spPr>
            <a:xfrm>
              <a:off x="0" y="0"/>
              <a:ext cx="812800" cy="812800"/>
            </a:xfrm>
            <a:custGeom>
              <a:avLst/>
              <a:gdLst/>
              <a:ahLst/>
              <a:cxnLst/>
              <a:rect l="l" t="t" r="r" b="b"/>
              <a:pathLst>
                <a:path w="812800" h="812800">
                  <a:moveTo>
                    <a:pt x="25097" y="0"/>
                  </a:moveTo>
                  <a:lnTo>
                    <a:pt x="787703" y="0"/>
                  </a:lnTo>
                  <a:cubicBezTo>
                    <a:pt x="801564" y="0"/>
                    <a:pt x="812800" y="11236"/>
                    <a:pt x="812800" y="25097"/>
                  </a:cubicBezTo>
                  <a:lnTo>
                    <a:pt x="812800" y="787703"/>
                  </a:lnTo>
                  <a:cubicBezTo>
                    <a:pt x="812800" y="801564"/>
                    <a:pt x="801564" y="812800"/>
                    <a:pt x="787703" y="812800"/>
                  </a:cubicBezTo>
                  <a:lnTo>
                    <a:pt x="25097" y="812800"/>
                  </a:lnTo>
                  <a:cubicBezTo>
                    <a:pt x="11236" y="812800"/>
                    <a:pt x="0" y="801564"/>
                    <a:pt x="0" y="787703"/>
                  </a:cubicBezTo>
                  <a:lnTo>
                    <a:pt x="0" y="25097"/>
                  </a:lnTo>
                  <a:cubicBezTo>
                    <a:pt x="0" y="11236"/>
                    <a:pt x="11236" y="0"/>
                    <a:pt x="25097" y="0"/>
                  </a:cubicBezTo>
                  <a:close/>
                </a:path>
              </a:pathLst>
            </a:custGeom>
            <a:solidFill>
              <a:srgbClr val="000000">
                <a:alpha val="0"/>
              </a:srgbClr>
            </a:solidFill>
            <a:ln w="12700">
              <a:solidFill>
                <a:srgbClr val="000000"/>
              </a:solidFill>
            </a:ln>
          </p:spPr>
          <p:txBody>
            <a:bodyPr/>
            <a:lstStyle/>
            <a:p>
              <a:endParaRPr lang="en-CA"/>
            </a:p>
          </p:txBody>
        </p:sp>
      </p:grpSp>
      <p:sp>
        <p:nvSpPr>
          <p:cNvPr id="7" name="AutoShape 7"/>
          <p:cNvSpPr/>
          <p:nvPr/>
        </p:nvSpPr>
        <p:spPr>
          <a:xfrm>
            <a:off x="8876857" y="2798685"/>
            <a:ext cx="2050229" cy="0"/>
          </a:xfrm>
          <a:prstGeom prst="line">
            <a:avLst/>
          </a:prstGeom>
          <a:ln w="85725" cap="flat">
            <a:solidFill>
              <a:srgbClr val="365679"/>
            </a:solidFill>
            <a:prstDash val="solid"/>
            <a:headEnd type="none" w="sm" len="sm"/>
            <a:tailEnd type="none" w="sm" len="sm"/>
          </a:ln>
        </p:spPr>
        <p:txBody>
          <a:bodyPr/>
          <a:lstStyle/>
          <a:p>
            <a:endParaRPr lang="en-CA"/>
          </a:p>
        </p:txBody>
      </p:sp>
      <p:grpSp>
        <p:nvGrpSpPr>
          <p:cNvPr id="8" name="Group 8"/>
          <p:cNvGrpSpPr/>
          <p:nvPr/>
        </p:nvGrpSpPr>
        <p:grpSpPr>
          <a:xfrm rot="9902075">
            <a:off x="16254219" y="-861230"/>
            <a:ext cx="3620223" cy="3167695"/>
            <a:chOff x="0" y="0"/>
            <a:chExt cx="812800" cy="711200"/>
          </a:xfrm>
        </p:grpSpPr>
        <p:sp>
          <p:nvSpPr>
            <p:cNvPr id="9" name="Freeform 9"/>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365679"/>
            </a:solidFill>
          </p:spPr>
          <p:txBody>
            <a:bodyPr/>
            <a:lstStyle/>
            <a:p>
              <a:endParaRPr lang="en-CA"/>
            </a:p>
          </p:txBody>
        </p:sp>
        <p:sp>
          <p:nvSpPr>
            <p:cNvPr id="10" name="TextBox 10"/>
            <p:cNvSpPr txBox="1"/>
            <p:nvPr/>
          </p:nvSpPr>
          <p:spPr>
            <a:xfrm>
              <a:off x="127000" y="263525"/>
              <a:ext cx="558800" cy="396875"/>
            </a:xfrm>
            <a:prstGeom prst="rect">
              <a:avLst/>
            </a:prstGeom>
          </p:spPr>
          <p:txBody>
            <a:bodyPr lIns="50800" tIns="50800" rIns="50800" bIns="50800" rtlCol="0" anchor="ctr"/>
            <a:lstStyle/>
            <a:p>
              <a:pPr algn="ctr">
                <a:lnSpc>
                  <a:spcPts val="3640"/>
                </a:lnSpc>
              </a:pPr>
              <a:endParaRPr/>
            </a:p>
          </p:txBody>
        </p:sp>
      </p:grpSp>
      <p:sp>
        <p:nvSpPr>
          <p:cNvPr id="11" name="TextBox 11"/>
          <p:cNvSpPr txBox="1"/>
          <p:nvPr/>
        </p:nvSpPr>
        <p:spPr>
          <a:xfrm>
            <a:off x="8876857" y="655943"/>
            <a:ext cx="6931946" cy="2099880"/>
          </a:xfrm>
          <a:prstGeom prst="rect">
            <a:avLst/>
          </a:prstGeom>
        </p:spPr>
        <p:txBody>
          <a:bodyPr lIns="0" tIns="0" rIns="0" bIns="0" rtlCol="0" anchor="t">
            <a:spAutoFit/>
          </a:bodyPr>
          <a:lstStyle/>
          <a:p>
            <a:pPr algn="l">
              <a:lnSpc>
                <a:spcPts val="8326"/>
              </a:lnSpc>
            </a:pPr>
            <a:r>
              <a:rPr lang="en-US" sz="6405" spc="153">
                <a:solidFill>
                  <a:srgbClr val="365679"/>
                </a:solidFill>
                <a:latin typeface="League Spartan"/>
                <a:ea typeface="League Spartan"/>
                <a:cs typeface="League Spartan"/>
                <a:sym typeface="League Spartan"/>
              </a:rPr>
              <a:t>Project Objectives</a:t>
            </a:r>
          </a:p>
        </p:txBody>
      </p:sp>
      <p:sp>
        <p:nvSpPr>
          <p:cNvPr id="12" name="TextBox 12"/>
          <p:cNvSpPr txBox="1"/>
          <p:nvPr/>
        </p:nvSpPr>
        <p:spPr>
          <a:xfrm>
            <a:off x="8589801" y="2978749"/>
            <a:ext cx="8415082" cy="6503489"/>
          </a:xfrm>
          <a:prstGeom prst="rect">
            <a:avLst/>
          </a:prstGeom>
        </p:spPr>
        <p:txBody>
          <a:bodyPr lIns="0" tIns="0" rIns="0" bIns="0" rtlCol="0" anchor="t">
            <a:spAutoFit/>
          </a:bodyPr>
          <a:lstStyle/>
          <a:p>
            <a:pPr marL="665432" lvl="1" indent="-332716" algn="l">
              <a:lnSpc>
                <a:spcPts val="4314"/>
              </a:lnSpc>
              <a:buAutoNum type="arabicPeriod"/>
            </a:pPr>
            <a:r>
              <a:rPr lang="en-US" sz="3082">
                <a:solidFill>
                  <a:srgbClr val="000000"/>
                </a:solidFill>
                <a:latin typeface="Inter"/>
                <a:ea typeface="Inter"/>
                <a:cs typeface="Inter"/>
                <a:sym typeface="Inter"/>
              </a:rPr>
              <a:t>Implement a Zero Trust Architecture to secure access to cloud resources.</a:t>
            </a:r>
          </a:p>
          <a:p>
            <a:pPr marL="665432" lvl="1" indent="-332716" algn="l">
              <a:lnSpc>
                <a:spcPts val="4314"/>
              </a:lnSpc>
              <a:buAutoNum type="arabicPeriod"/>
            </a:pPr>
            <a:r>
              <a:rPr lang="en-US" sz="3082">
                <a:solidFill>
                  <a:srgbClr val="000000"/>
                </a:solidFill>
                <a:latin typeface="Inter"/>
                <a:ea typeface="Inter"/>
                <a:cs typeface="Inter"/>
                <a:sym typeface="Inter"/>
              </a:rPr>
              <a:t>Enable end-to-end encryption using SSL/TLS and DNSSEC to protect data integrity.</a:t>
            </a:r>
          </a:p>
          <a:p>
            <a:pPr marL="665432" lvl="1" indent="-332716" algn="l">
              <a:lnSpc>
                <a:spcPts val="4314"/>
              </a:lnSpc>
              <a:buAutoNum type="arabicPeriod"/>
            </a:pPr>
            <a:r>
              <a:rPr lang="en-US" sz="3082">
                <a:solidFill>
                  <a:srgbClr val="000000"/>
                </a:solidFill>
                <a:latin typeface="Inter"/>
                <a:ea typeface="Inter"/>
                <a:cs typeface="Inter"/>
                <a:sym typeface="Inter"/>
              </a:rPr>
              <a:t>Configure Cloudflare Tunnel for secure traffic routing and origin server protection.</a:t>
            </a:r>
          </a:p>
          <a:p>
            <a:pPr marL="665432" lvl="1" indent="-332716" algn="l">
              <a:lnSpc>
                <a:spcPts val="4314"/>
              </a:lnSpc>
              <a:buAutoNum type="arabicPeriod"/>
            </a:pPr>
            <a:r>
              <a:rPr lang="en-US" sz="3082">
                <a:solidFill>
                  <a:srgbClr val="000000"/>
                </a:solidFill>
                <a:latin typeface="Inter"/>
                <a:ea typeface="Inter"/>
                <a:cs typeface="Inter"/>
                <a:sym typeface="Inter"/>
              </a:rPr>
              <a:t>Integrate Single Sign-On (SSO) to streamline and secure user authentication.</a:t>
            </a:r>
          </a:p>
          <a:p>
            <a:pPr algn="l">
              <a:lnSpc>
                <a:spcPts val="4314"/>
              </a:lnSpc>
            </a:pPr>
            <a:endParaRPr lang="en-US" sz="3082">
              <a:solidFill>
                <a:srgbClr val="000000"/>
              </a:solidFill>
              <a:latin typeface="Inter"/>
              <a:ea typeface="Inter"/>
              <a:cs typeface="Inter"/>
              <a:sym typeface="Inter"/>
            </a:endParaRPr>
          </a:p>
        </p:txBody>
      </p:sp>
      <p:grpSp>
        <p:nvGrpSpPr>
          <p:cNvPr id="13" name="Group 13"/>
          <p:cNvGrpSpPr/>
          <p:nvPr/>
        </p:nvGrpSpPr>
        <p:grpSpPr>
          <a:xfrm>
            <a:off x="804762" y="2051333"/>
            <a:ext cx="7318935" cy="7318935"/>
            <a:chOff x="0" y="0"/>
            <a:chExt cx="812800" cy="812800"/>
          </a:xfrm>
        </p:grpSpPr>
        <p:sp>
          <p:nvSpPr>
            <p:cNvPr id="14" name="Freeform 14"/>
            <p:cNvSpPr/>
            <p:nvPr/>
          </p:nvSpPr>
          <p:spPr>
            <a:xfrm>
              <a:off x="0" y="0"/>
              <a:ext cx="812800" cy="812800"/>
            </a:xfrm>
            <a:custGeom>
              <a:avLst/>
              <a:gdLst/>
              <a:ahLst/>
              <a:cxnLst/>
              <a:rect l="l" t="t" r="r" b="b"/>
              <a:pathLst>
                <a:path w="812800" h="812800">
                  <a:moveTo>
                    <a:pt x="38081" y="0"/>
                  </a:moveTo>
                  <a:lnTo>
                    <a:pt x="774719" y="0"/>
                  </a:lnTo>
                  <a:cubicBezTo>
                    <a:pt x="795751" y="0"/>
                    <a:pt x="812800" y="17049"/>
                    <a:pt x="812800" y="38081"/>
                  </a:cubicBezTo>
                  <a:lnTo>
                    <a:pt x="812800" y="774719"/>
                  </a:lnTo>
                  <a:cubicBezTo>
                    <a:pt x="812800" y="795751"/>
                    <a:pt x="795751" y="812800"/>
                    <a:pt x="774719" y="812800"/>
                  </a:cubicBezTo>
                  <a:lnTo>
                    <a:pt x="38081" y="812800"/>
                  </a:lnTo>
                  <a:cubicBezTo>
                    <a:pt x="17049" y="812800"/>
                    <a:pt x="0" y="795751"/>
                    <a:pt x="0" y="774719"/>
                  </a:cubicBezTo>
                  <a:lnTo>
                    <a:pt x="0" y="38081"/>
                  </a:lnTo>
                  <a:cubicBezTo>
                    <a:pt x="0" y="17049"/>
                    <a:pt x="17049" y="0"/>
                    <a:pt x="38081" y="0"/>
                  </a:cubicBezTo>
                  <a:close/>
                </a:path>
              </a:pathLst>
            </a:custGeom>
            <a:blipFill>
              <a:blip r:embed="rId2"/>
              <a:stretch>
                <a:fillRect l="-36580" r="-36580"/>
              </a:stretch>
            </a:blipFill>
          </p:spPr>
          <p:txBody>
            <a:bodyPr/>
            <a:lstStyle/>
            <a:p>
              <a:endParaRPr lang="en-CA"/>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05938" y="4366147"/>
            <a:ext cx="1970255" cy="1974195"/>
          </a:xfrm>
          <a:custGeom>
            <a:avLst/>
            <a:gdLst/>
            <a:ahLst/>
            <a:cxnLst/>
            <a:rect l="l" t="t" r="r" b="b"/>
            <a:pathLst>
              <a:path w="1970255" h="1974195">
                <a:moveTo>
                  <a:pt x="0" y="0"/>
                </a:moveTo>
                <a:lnTo>
                  <a:pt x="1970254" y="0"/>
                </a:lnTo>
                <a:lnTo>
                  <a:pt x="1970254" y="1974195"/>
                </a:lnTo>
                <a:lnTo>
                  <a:pt x="0" y="1974195"/>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CA"/>
          </a:p>
        </p:txBody>
      </p:sp>
      <p:sp>
        <p:nvSpPr>
          <p:cNvPr id="3" name="TextBox 3"/>
          <p:cNvSpPr txBox="1"/>
          <p:nvPr/>
        </p:nvSpPr>
        <p:spPr>
          <a:xfrm>
            <a:off x="1400767" y="3042921"/>
            <a:ext cx="2007793" cy="1074144"/>
          </a:xfrm>
          <a:prstGeom prst="rect">
            <a:avLst/>
          </a:prstGeom>
        </p:spPr>
        <p:txBody>
          <a:bodyPr lIns="0" tIns="0" rIns="0" bIns="0" rtlCol="0" anchor="t">
            <a:spAutoFit/>
          </a:bodyPr>
          <a:lstStyle/>
          <a:p>
            <a:pPr marL="0" lvl="0" indent="0" algn="ctr">
              <a:lnSpc>
                <a:spcPts val="4320"/>
              </a:lnSpc>
              <a:spcBef>
                <a:spcPct val="0"/>
              </a:spcBef>
            </a:pPr>
            <a:r>
              <a:rPr lang="en-US" sz="3085" spc="74">
                <a:solidFill>
                  <a:srgbClr val="000000"/>
                </a:solidFill>
                <a:latin typeface="League Spartan"/>
                <a:ea typeface="League Spartan"/>
                <a:cs typeface="League Spartan"/>
                <a:sym typeface="League Spartan"/>
              </a:rPr>
              <a:t>AWS EC2 and S3</a:t>
            </a:r>
          </a:p>
        </p:txBody>
      </p:sp>
      <p:sp>
        <p:nvSpPr>
          <p:cNvPr id="4" name="AutoShape 4"/>
          <p:cNvSpPr/>
          <p:nvPr/>
        </p:nvSpPr>
        <p:spPr>
          <a:xfrm>
            <a:off x="2185673" y="3845603"/>
            <a:ext cx="10783" cy="520258"/>
          </a:xfrm>
          <a:prstGeom prst="line">
            <a:avLst/>
          </a:prstGeom>
          <a:ln w="28575" cap="rnd">
            <a:solidFill>
              <a:srgbClr val="598196"/>
            </a:solidFill>
            <a:prstDash val="sysDot"/>
            <a:headEnd type="oval" w="lg" len="lg"/>
            <a:tailEnd type="none" w="sm" len="sm"/>
          </a:ln>
        </p:spPr>
        <p:txBody>
          <a:bodyPr/>
          <a:lstStyle/>
          <a:p>
            <a:endParaRPr lang="en-CA"/>
          </a:p>
        </p:txBody>
      </p:sp>
      <p:sp>
        <p:nvSpPr>
          <p:cNvPr id="5" name="AutoShape 5"/>
          <p:cNvSpPr/>
          <p:nvPr/>
        </p:nvSpPr>
        <p:spPr>
          <a:xfrm>
            <a:off x="3176192" y="5353245"/>
            <a:ext cx="795870" cy="0"/>
          </a:xfrm>
          <a:prstGeom prst="line">
            <a:avLst/>
          </a:prstGeom>
          <a:ln w="47625" cap="rnd">
            <a:solidFill>
              <a:srgbClr val="598196"/>
            </a:solidFill>
            <a:prstDash val="solid"/>
            <a:headEnd type="none" w="sm" len="sm"/>
            <a:tailEnd type="none" w="sm" len="sm"/>
          </a:ln>
        </p:spPr>
        <p:txBody>
          <a:bodyPr/>
          <a:lstStyle/>
          <a:p>
            <a:endParaRPr lang="en-CA"/>
          </a:p>
        </p:txBody>
      </p:sp>
      <p:sp>
        <p:nvSpPr>
          <p:cNvPr id="6" name="Freeform 6"/>
          <p:cNvSpPr/>
          <p:nvPr/>
        </p:nvSpPr>
        <p:spPr>
          <a:xfrm>
            <a:off x="3986453" y="4366147"/>
            <a:ext cx="1970255" cy="1974195"/>
          </a:xfrm>
          <a:custGeom>
            <a:avLst/>
            <a:gdLst/>
            <a:ahLst/>
            <a:cxnLst/>
            <a:rect l="l" t="t" r="r" b="b"/>
            <a:pathLst>
              <a:path w="1970255" h="1974195">
                <a:moveTo>
                  <a:pt x="0" y="0"/>
                </a:moveTo>
                <a:lnTo>
                  <a:pt x="1970255" y="0"/>
                </a:lnTo>
                <a:lnTo>
                  <a:pt x="1970255" y="1974195"/>
                </a:lnTo>
                <a:lnTo>
                  <a:pt x="0" y="1974195"/>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CA"/>
          </a:p>
        </p:txBody>
      </p:sp>
      <p:sp>
        <p:nvSpPr>
          <p:cNvPr id="7" name="TextBox 7"/>
          <p:cNvSpPr txBox="1"/>
          <p:nvPr/>
        </p:nvSpPr>
        <p:spPr>
          <a:xfrm>
            <a:off x="3794922" y="3042921"/>
            <a:ext cx="2536114" cy="1074144"/>
          </a:xfrm>
          <a:prstGeom prst="rect">
            <a:avLst/>
          </a:prstGeom>
        </p:spPr>
        <p:txBody>
          <a:bodyPr lIns="0" tIns="0" rIns="0" bIns="0" rtlCol="0" anchor="t">
            <a:spAutoFit/>
          </a:bodyPr>
          <a:lstStyle/>
          <a:p>
            <a:pPr marL="0" lvl="0" indent="0" algn="ctr">
              <a:lnSpc>
                <a:spcPts val="4320"/>
              </a:lnSpc>
              <a:spcBef>
                <a:spcPct val="0"/>
              </a:spcBef>
            </a:pPr>
            <a:r>
              <a:rPr lang="en-US" sz="3085" spc="74">
                <a:solidFill>
                  <a:srgbClr val="000000"/>
                </a:solidFill>
                <a:latin typeface="League Spartan"/>
                <a:ea typeface="League Spartan"/>
                <a:cs typeface="League Spartan"/>
                <a:sym typeface="League Spartan"/>
              </a:rPr>
              <a:t>Cloudflare Zero Trust</a:t>
            </a:r>
          </a:p>
        </p:txBody>
      </p:sp>
      <p:sp>
        <p:nvSpPr>
          <p:cNvPr id="8" name="AutoShape 8"/>
          <p:cNvSpPr/>
          <p:nvPr/>
        </p:nvSpPr>
        <p:spPr>
          <a:xfrm>
            <a:off x="4966189" y="3845603"/>
            <a:ext cx="10783" cy="520258"/>
          </a:xfrm>
          <a:prstGeom prst="line">
            <a:avLst/>
          </a:prstGeom>
          <a:ln w="28575" cap="rnd">
            <a:solidFill>
              <a:srgbClr val="598196"/>
            </a:solidFill>
            <a:prstDash val="sysDot"/>
            <a:headEnd type="oval" w="lg" len="lg"/>
            <a:tailEnd type="none" w="sm" len="sm"/>
          </a:ln>
        </p:spPr>
        <p:txBody>
          <a:bodyPr/>
          <a:lstStyle/>
          <a:p>
            <a:endParaRPr lang="en-CA"/>
          </a:p>
        </p:txBody>
      </p:sp>
      <p:sp>
        <p:nvSpPr>
          <p:cNvPr id="9" name="AutoShape 9"/>
          <p:cNvSpPr/>
          <p:nvPr/>
        </p:nvSpPr>
        <p:spPr>
          <a:xfrm>
            <a:off x="5956708" y="5353245"/>
            <a:ext cx="795870" cy="0"/>
          </a:xfrm>
          <a:prstGeom prst="line">
            <a:avLst/>
          </a:prstGeom>
          <a:ln w="47625" cap="rnd">
            <a:solidFill>
              <a:srgbClr val="598196"/>
            </a:solidFill>
            <a:prstDash val="solid"/>
            <a:headEnd type="none" w="sm" len="sm"/>
            <a:tailEnd type="none" w="sm" len="sm"/>
          </a:ln>
        </p:spPr>
        <p:txBody>
          <a:bodyPr/>
          <a:lstStyle/>
          <a:p>
            <a:endParaRPr lang="en-CA"/>
          </a:p>
        </p:txBody>
      </p:sp>
      <p:sp>
        <p:nvSpPr>
          <p:cNvPr id="10" name="Freeform 10"/>
          <p:cNvSpPr/>
          <p:nvPr/>
        </p:nvSpPr>
        <p:spPr>
          <a:xfrm>
            <a:off x="6768615" y="4366147"/>
            <a:ext cx="1970255" cy="1974195"/>
          </a:xfrm>
          <a:custGeom>
            <a:avLst/>
            <a:gdLst/>
            <a:ahLst/>
            <a:cxnLst/>
            <a:rect l="l" t="t" r="r" b="b"/>
            <a:pathLst>
              <a:path w="1970255" h="1974195">
                <a:moveTo>
                  <a:pt x="0" y="0"/>
                </a:moveTo>
                <a:lnTo>
                  <a:pt x="1970255" y="0"/>
                </a:lnTo>
                <a:lnTo>
                  <a:pt x="1970255" y="1974195"/>
                </a:lnTo>
                <a:lnTo>
                  <a:pt x="0" y="1974195"/>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CA"/>
          </a:p>
        </p:txBody>
      </p:sp>
      <p:sp>
        <p:nvSpPr>
          <p:cNvPr id="11" name="TextBox 11"/>
          <p:cNvSpPr txBox="1"/>
          <p:nvPr/>
        </p:nvSpPr>
        <p:spPr>
          <a:xfrm>
            <a:off x="6657837" y="3042921"/>
            <a:ext cx="2302590" cy="1074144"/>
          </a:xfrm>
          <a:prstGeom prst="rect">
            <a:avLst/>
          </a:prstGeom>
        </p:spPr>
        <p:txBody>
          <a:bodyPr lIns="0" tIns="0" rIns="0" bIns="0" rtlCol="0" anchor="t">
            <a:spAutoFit/>
          </a:bodyPr>
          <a:lstStyle/>
          <a:p>
            <a:pPr marL="0" lvl="0" indent="0" algn="ctr">
              <a:lnSpc>
                <a:spcPts val="4320"/>
              </a:lnSpc>
              <a:spcBef>
                <a:spcPct val="0"/>
              </a:spcBef>
            </a:pPr>
            <a:r>
              <a:rPr lang="en-US" sz="3085" spc="74">
                <a:solidFill>
                  <a:srgbClr val="000000"/>
                </a:solidFill>
                <a:latin typeface="League Spartan"/>
                <a:ea typeface="League Spartan"/>
                <a:cs typeface="League Spartan"/>
                <a:sym typeface="League Spartan"/>
              </a:rPr>
              <a:t>Cloudflare Tunnel</a:t>
            </a:r>
          </a:p>
        </p:txBody>
      </p:sp>
      <p:sp>
        <p:nvSpPr>
          <p:cNvPr id="12" name="AutoShape 12"/>
          <p:cNvSpPr/>
          <p:nvPr/>
        </p:nvSpPr>
        <p:spPr>
          <a:xfrm>
            <a:off x="7748351" y="3845603"/>
            <a:ext cx="10783" cy="520258"/>
          </a:xfrm>
          <a:prstGeom prst="line">
            <a:avLst/>
          </a:prstGeom>
          <a:ln w="28575" cap="rnd">
            <a:solidFill>
              <a:srgbClr val="598196"/>
            </a:solidFill>
            <a:prstDash val="sysDot"/>
            <a:headEnd type="oval" w="lg" len="lg"/>
            <a:tailEnd type="none" w="sm" len="sm"/>
          </a:ln>
        </p:spPr>
        <p:txBody>
          <a:bodyPr/>
          <a:lstStyle/>
          <a:p>
            <a:endParaRPr lang="en-CA"/>
          </a:p>
        </p:txBody>
      </p:sp>
      <p:sp>
        <p:nvSpPr>
          <p:cNvPr id="13" name="AutoShape 13"/>
          <p:cNvSpPr/>
          <p:nvPr/>
        </p:nvSpPr>
        <p:spPr>
          <a:xfrm>
            <a:off x="8738870" y="5353245"/>
            <a:ext cx="795870" cy="0"/>
          </a:xfrm>
          <a:prstGeom prst="line">
            <a:avLst/>
          </a:prstGeom>
          <a:ln w="47625" cap="rnd">
            <a:solidFill>
              <a:srgbClr val="598196"/>
            </a:solidFill>
            <a:prstDash val="solid"/>
            <a:headEnd type="none" w="sm" len="sm"/>
            <a:tailEnd type="none" w="sm" len="sm"/>
          </a:ln>
        </p:spPr>
        <p:txBody>
          <a:bodyPr/>
          <a:lstStyle/>
          <a:p>
            <a:endParaRPr lang="en-CA"/>
          </a:p>
        </p:txBody>
      </p:sp>
      <p:sp>
        <p:nvSpPr>
          <p:cNvPr id="14" name="Freeform 14"/>
          <p:cNvSpPr/>
          <p:nvPr/>
        </p:nvSpPr>
        <p:spPr>
          <a:xfrm>
            <a:off x="9549130" y="4366147"/>
            <a:ext cx="1970255" cy="1974195"/>
          </a:xfrm>
          <a:custGeom>
            <a:avLst/>
            <a:gdLst/>
            <a:ahLst/>
            <a:cxnLst/>
            <a:rect l="l" t="t" r="r" b="b"/>
            <a:pathLst>
              <a:path w="1970255" h="1974195">
                <a:moveTo>
                  <a:pt x="0" y="0"/>
                </a:moveTo>
                <a:lnTo>
                  <a:pt x="1970255" y="0"/>
                </a:lnTo>
                <a:lnTo>
                  <a:pt x="1970255" y="1974195"/>
                </a:lnTo>
                <a:lnTo>
                  <a:pt x="0" y="1974195"/>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CA"/>
          </a:p>
        </p:txBody>
      </p:sp>
      <p:sp>
        <p:nvSpPr>
          <p:cNvPr id="15" name="TextBox 15"/>
          <p:cNvSpPr txBox="1"/>
          <p:nvPr/>
        </p:nvSpPr>
        <p:spPr>
          <a:xfrm>
            <a:off x="9350952" y="3042921"/>
            <a:ext cx="2389990" cy="1074144"/>
          </a:xfrm>
          <a:prstGeom prst="rect">
            <a:avLst/>
          </a:prstGeom>
        </p:spPr>
        <p:txBody>
          <a:bodyPr lIns="0" tIns="0" rIns="0" bIns="0" rtlCol="0" anchor="t">
            <a:spAutoFit/>
          </a:bodyPr>
          <a:lstStyle/>
          <a:p>
            <a:pPr marL="0" lvl="0" indent="0" algn="ctr">
              <a:lnSpc>
                <a:spcPts val="4320"/>
              </a:lnSpc>
              <a:spcBef>
                <a:spcPct val="0"/>
              </a:spcBef>
            </a:pPr>
            <a:r>
              <a:rPr lang="en-US" sz="3085" spc="74">
                <a:solidFill>
                  <a:srgbClr val="000000"/>
                </a:solidFill>
                <a:latin typeface="League Spartan"/>
                <a:ea typeface="League Spartan"/>
                <a:cs typeface="League Spartan"/>
                <a:sym typeface="League Spartan"/>
              </a:rPr>
              <a:t>SSL/TLS Encryption</a:t>
            </a:r>
          </a:p>
        </p:txBody>
      </p:sp>
      <p:sp>
        <p:nvSpPr>
          <p:cNvPr id="16" name="AutoShape 16"/>
          <p:cNvSpPr/>
          <p:nvPr/>
        </p:nvSpPr>
        <p:spPr>
          <a:xfrm>
            <a:off x="10528866" y="3845603"/>
            <a:ext cx="10783" cy="520258"/>
          </a:xfrm>
          <a:prstGeom prst="line">
            <a:avLst/>
          </a:prstGeom>
          <a:ln w="28575" cap="rnd">
            <a:solidFill>
              <a:srgbClr val="598196"/>
            </a:solidFill>
            <a:prstDash val="sysDot"/>
            <a:headEnd type="oval" w="lg" len="lg"/>
            <a:tailEnd type="none" w="sm" len="sm"/>
          </a:ln>
        </p:spPr>
        <p:txBody>
          <a:bodyPr/>
          <a:lstStyle/>
          <a:p>
            <a:endParaRPr lang="en-CA"/>
          </a:p>
        </p:txBody>
      </p:sp>
      <p:sp>
        <p:nvSpPr>
          <p:cNvPr id="17" name="AutoShape 17"/>
          <p:cNvSpPr/>
          <p:nvPr/>
        </p:nvSpPr>
        <p:spPr>
          <a:xfrm>
            <a:off x="11519385" y="5353245"/>
            <a:ext cx="795870" cy="0"/>
          </a:xfrm>
          <a:prstGeom prst="line">
            <a:avLst/>
          </a:prstGeom>
          <a:ln w="47625" cap="rnd">
            <a:solidFill>
              <a:srgbClr val="598196"/>
            </a:solidFill>
            <a:prstDash val="solid"/>
            <a:headEnd type="none" w="sm" len="sm"/>
            <a:tailEnd type="none" w="sm" len="sm"/>
          </a:ln>
        </p:spPr>
        <p:txBody>
          <a:bodyPr/>
          <a:lstStyle/>
          <a:p>
            <a:endParaRPr lang="en-CA"/>
          </a:p>
        </p:txBody>
      </p:sp>
      <p:sp>
        <p:nvSpPr>
          <p:cNvPr id="18" name="Freeform 18"/>
          <p:cNvSpPr/>
          <p:nvPr/>
        </p:nvSpPr>
        <p:spPr>
          <a:xfrm>
            <a:off x="12331292" y="4366147"/>
            <a:ext cx="1970255" cy="1974195"/>
          </a:xfrm>
          <a:custGeom>
            <a:avLst/>
            <a:gdLst/>
            <a:ahLst/>
            <a:cxnLst/>
            <a:rect l="l" t="t" r="r" b="b"/>
            <a:pathLst>
              <a:path w="1970255" h="1974195">
                <a:moveTo>
                  <a:pt x="0" y="0"/>
                </a:moveTo>
                <a:lnTo>
                  <a:pt x="1970255" y="0"/>
                </a:lnTo>
                <a:lnTo>
                  <a:pt x="1970255" y="1974195"/>
                </a:lnTo>
                <a:lnTo>
                  <a:pt x="0" y="1974195"/>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CA"/>
          </a:p>
        </p:txBody>
      </p:sp>
      <p:sp>
        <p:nvSpPr>
          <p:cNvPr id="19" name="TextBox 19"/>
          <p:cNvSpPr txBox="1"/>
          <p:nvPr/>
        </p:nvSpPr>
        <p:spPr>
          <a:xfrm>
            <a:off x="12526122" y="3314384"/>
            <a:ext cx="1775425" cy="531219"/>
          </a:xfrm>
          <a:prstGeom prst="rect">
            <a:avLst/>
          </a:prstGeom>
        </p:spPr>
        <p:txBody>
          <a:bodyPr lIns="0" tIns="0" rIns="0" bIns="0" rtlCol="0" anchor="t">
            <a:spAutoFit/>
          </a:bodyPr>
          <a:lstStyle/>
          <a:p>
            <a:pPr marL="0" lvl="0" indent="0" algn="ctr">
              <a:lnSpc>
                <a:spcPts val="4320"/>
              </a:lnSpc>
              <a:spcBef>
                <a:spcPct val="0"/>
              </a:spcBef>
            </a:pPr>
            <a:r>
              <a:rPr lang="en-US" sz="3085" spc="74">
                <a:solidFill>
                  <a:srgbClr val="000000"/>
                </a:solidFill>
                <a:latin typeface="League Spartan"/>
                <a:ea typeface="League Spartan"/>
                <a:cs typeface="League Spartan"/>
                <a:sym typeface="League Spartan"/>
              </a:rPr>
              <a:t>DNSSEC</a:t>
            </a:r>
          </a:p>
        </p:txBody>
      </p:sp>
      <p:sp>
        <p:nvSpPr>
          <p:cNvPr id="20" name="AutoShape 20"/>
          <p:cNvSpPr/>
          <p:nvPr/>
        </p:nvSpPr>
        <p:spPr>
          <a:xfrm>
            <a:off x="13311028" y="3845603"/>
            <a:ext cx="10783" cy="520258"/>
          </a:xfrm>
          <a:prstGeom prst="line">
            <a:avLst/>
          </a:prstGeom>
          <a:ln w="28575" cap="rnd">
            <a:solidFill>
              <a:srgbClr val="598196"/>
            </a:solidFill>
            <a:prstDash val="sysDot"/>
            <a:headEnd type="oval" w="lg" len="lg"/>
            <a:tailEnd type="none" w="sm" len="sm"/>
          </a:ln>
        </p:spPr>
        <p:txBody>
          <a:bodyPr/>
          <a:lstStyle/>
          <a:p>
            <a:endParaRPr lang="en-CA"/>
          </a:p>
        </p:txBody>
      </p:sp>
      <p:sp>
        <p:nvSpPr>
          <p:cNvPr id="21" name="AutoShape 21"/>
          <p:cNvSpPr/>
          <p:nvPr/>
        </p:nvSpPr>
        <p:spPr>
          <a:xfrm>
            <a:off x="14301547" y="5353245"/>
            <a:ext cx="795870" cy="0"/>
          </a:xfrm>
          <a:prstGeom prst="line">
            <a:avLst/>
          </a:prstGeom>
          <a:ln w="47625" cap="rnd">
            <a:solidFill>
              <a:srgbClr val="598196"/>
            </a:solidFill>
            <a:prstDash val="solid"/>
            <a:headEnd type="none" w="sm" len="sm"/>
            <a:tailEnd type="none" w="sm" len="sm"/>
          </a:ln>
        </p:spPr>
        <p:txBody>
          <a:bodyPr/>
          <a:lstStyle/>
          <a:p>
            <a:endParaRPr lang="en-CA"/>
          </a:p>
        </p:txBody>
      </p:sp>
      <p:sp>
        <p:nvSpPr>
          <p:cNvPr id="22" name="Freeform 22"/>
          <p:cNvSpPr/>
          <p:nvPr/>
        </p:nvSpPr>
        <p:spPr>
          <a:xfrm>
            <a:off x="15111808" y="4366147"/>
            <a:ext cx="1970255" cy="1974195"/>
          </a:xfrm>
          <a:custGeom>
            <a:avLst/>
            <a:gdLst/>
            <a:ahLst/>
            <a:cxnLst/>
            <a:rect l="l" t="t" r="r" b="b"/>
            <a:pathLst>
              <a:path w="1970255" h="1974195">
                <a:moveTo>
                  <a:pt x="0" y="0"/>
                </a:moveTo>
                <a:lnTo>
                  <a:pt x="1970254" y="0"/>
                </a:lnTo>
                <a:lnTo>
                  <a:pt x="1970254" y="1974195"/>
                </a:lnTo>
                <a:lnTo>
                  <a:pt x="0" y="1974195"/>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CA"/>
          </a:p>
        </p:txBody>
      </p:sp>
      <p:sp>
        <p:nvSpPr>
          <p:cNvPr id="23" name="TextBox 23"/>
          <p:cNvSpPr txBox="1"/>
          <p:nvPr/>
        </p:nvSpPr>
        <p:spPr>
          <a:xfrm>
            <a:off x="15082597" y="3042921"/>
            <a:ext cx="1804636" cy="1074144"/>
          </a:xfrm>
          <a:prstGeom prst="rect">
            <a:avLst/>
          </a:prstGeom>
        </p:spPr>
        <p:txBody>
          <a:bodyPr lIns="0" tIns="0" rIns="0" bIns="0" rtlCol="0" anchor="t">
            <a:spAutoFit/>
          </a:bodyPr>
          <a:lstStyle/>
          <a:p>
            <a:pPr marL="0" lvl="0" indent="0" algn="ctr">
              <a:lnSpc>
                <a:spcPts val="4320"/>
              </a:lnSpc>
              <a:spcBef>
                <a:spcPct val="0"/>
              </a:spcBef>
            </a:pPr>
            <a:r>
              <a:rPr lang="en-US" sz="3085" spc="74">
                <a:solidFill>
                  <a:srgbClr val="000000"/>
                </a:solidFill>
                <a:latin typeface="League Spartan"/>
                <a:ea typeface="League Spartan"/>
                <a:cs typeface="League Spartan"/>
                <a:sym typeface="League Spartan"/>
              </a:rPr>
              <a:t>Git HUB as idp</a:t>
            </a:r>
          </a:p>
        </p:txBody>
      </p:sp>
      <p:sp>
        <p:nvSpPr>
          <p:cNvPr id="24" name="AutoShape 24"/>
          <p:cNvSpPr/>
          <p:nvPr/>
        </p:nvSpPr>
        <p:spPr>
          <a:xfrm>
            <a:off x="16091544" y="3845603"/>
            <a:ext cx="10783" cy="520258"/>
          </a:xfrm>
          <a:prstGeom prst="line">
            <a:avLst/>
          </a:prstGeom>
          <a:ln w="28575" cap="rnd">
            <a:solidFill>
              <a:srgbClr val="598196"/>
            </a:solidFill>
            <a:prstDash val="sysDot"/>
            <a:headEnd type="oval" w="lg" len="lg"/>
            <a:tailEnd type="none" w="sm" len="sm"/>
          </a:ln>
        </p:spPr>
        <p:txBody>
          <a:bodyPr/>
          <a:lstStyle/>
          <a:p>
            <a:endParaRPr lang="en-CA"/>
          </a:p>
        </p:txBody>
      </p:sp>
      <p:grpSp>
        <p:nvGrpSpPr>
          <p:cNvPr id="25" name="Group 25"/>
          <p:cNvGrpSpPr/>
          <p:nvPr/>
        </p:nvGrpSpPr>
        <p:grpSpPr>
          <a:xfrm>
            <a:off x="-2001494" y="8323039"/>
            <a:ext cx="4723978" cy="4723978"/>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2B485F"/>
              </a:solidFill>
              <a:prstDash val="solid"/>
              <a:miter/>
            </a:ln>
          </p:spPr>
          <p:txBody>
            <a:bodyPr/>
            <a:lstStyle/>
            <a:p>
              <a:endParaRPr lang="en-CA"/>
            </a:p>
          </p:txBody>
        </p:sp>
        <p:sp>
          <p:nvSpPr>
            <p:cNvPr id="27" name="TextBox 27"/>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28" name="Group 28"/>
          <p:cNvGrpSpPr/>
          <p:nvPr/>
        </p:nvGrpSpPr>
        <p:grpSpPr>
          <a:xfrm>
            <a:off x="15829033" y="-1509558"/>
            <a:ext cx="3957167" cy="3957167"/>
            <a:chOff x="0" y="0"/>
            <a:chExt cx="812800" cy="812800"/>
          </a:xfrm>
        </p:grpSpPr>
        <p:sp>
          <p:nvSpPr>
            <p:cNvPr id="29" name="Freeform 2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B485F"/>
            </a:solidFill>
            <a:ln cap="sq">
              <a:noFill/>
              <a:prstDash val="solid"/>
              <a:miter/>
            </a:ln>
          </p:spPr>
          <p:txBody>
            <a:bodyPr/>
            <a:lstStyle/>
            <a:p>
              <a:endParaRPr lang="en-CA"/>
            </a:p>
          </p:txBody>
        </p:sp>
        <p:sp>
          <p:nvSpPr>
            <p:cNvPr id="30" name="TextBox 30"/>
            <p:cNvSpPr txBox="1"/>
            <p:nvPr/>
          </p:nvSpPr>
          <p:spPr>
            <a:xfrm>
              <a:off x="76200" y="38100"/>
              <a:ext cx="660400" cy="698500"/>
            </a:xfrm>
            <a:prstGeom prst="rect">
              <a:avLst/>
            </a:prstGeom>
          </p:spPr>
          <p:txBody>
            <a:bodyPr lIns="50800" tIns="50800" rIns="50800" bIns="50800" rtlCol="0" anchor="ctr"/>
            <a:lstStyle/>
            <a:p>
              <a:pPr marL="0" lvl="0" indent="0" algn="ctr">
                <a:lnSpc>
                  <a:spcPts val="3079"/>
                </a:lnSpc>
                <a:spcBef>
                  <a:spcPct val="0"/>
                </a:spcBef>
              </a:pPr>
              <a:endParaRPr/>
            </a:p>
          </p:txBody>
        </p:sp>
      </p:grpSp>
      <p:grpSp>
        <p:nvGrpSpPr>
          <p:cNvPr id="31" name="Group 31"/>
          <p:cNvGrpSpPr/>
          <p:nvPr/>
        </p:nvGrpSpPr>
        <p:grpSpPr>
          <a:xfrm>
            <a:off x="3408560" y="8871939"/>
            <a:ext cx="772722" cy="772722"/>
            <a:chOff x="0" y="0"/>
            <a:chExt cx="812800" cy="812800"/>
          </a:xfrm>
        </p:grpSpPr>
        <p:sp>
          <p:nvSpPr>
            <p:cNvPr id="32" name="Freeform 3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B485F"/>
            </a:solidFill>
            <a:ln cap="sq">
              <a:noFill/>
              <a:prstDash val="solid"/>
              <a:miter/>
            </a:ln>
          </p:spPr>
          <p:txBody>
            <a:bodyPr/>
            <a:lstStyle/>
            <a:p>
              <a:endParaRPr lang="en-CA"/>
            </a:p>
          </p:txBody>
        </p:sp>
        <p:sp>
          <p:nvSpPr>
            <p:cNvPr id="33" name="TextBox 33"/>
            <p:cNvSpPr txBox="1"/>
            <p:nvPr/>
          </p:nvSpPr>
          <p:spPr>
            <a:xfrm>
              <a:off x="76200" y="38100"/>
              <a:ext cx="660400" cy="698500"/>
            </a:xfrm>
            <a:prstGeom prst="rect">
              <a:avLst/>
            </a:prstGeom>
          </p:spPr>
          <p:txBody>
            <a:bodyPr lIns="50800" tIns="50800" rIns="50800" bIns="50800" rtlCol="0" anchor="ctr"/>
            <a:lstStyle/>
            <a:p>
              <a:pPr marL="0" lvl="0" indent="0" algn="ctr">
                <a:lnSpc>
                  <a:spcPts val="3079"/>
                </a:lnSpc>
                <a:spcBef>
                  <a:spcPct val="0"/>
                </a:spcBef>
              </a:pPr>
              <a:endParaRPr/>
            </a:p>
          </p:txBody>
        </p:sp>
      </p:grpSp>
      <p:grpSp>
        <p:nvGrpSpPr>
          <p:cNvPr id="34" name="Group 34"/>
          <p:cNvGrpSpPr/>
          <p:nvPr/>
        </p:nvGrpSpPr>
        <p:grpSpPr>
          <a:xfrm>
            <a:off x="-384892" y="-572198"/>
            <a:ext cx="1490773" cy="1490773"/>
            <a:chOff x="0" y="0"/>
            <a:chExt cx="812800" cy="812800"/>
          </a:xfrm>
        </p:grpSpPr>
        <p:sp>
          <p:nvSpPr>
            <p:cNvPr id="35" name="Freeform 3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B485F"/>
            </a:solidFill>
            <a:ln cap="sq">
              <a:noFill/>
              <a:prstDash val="solid"/>
              <a:miter/>
            </a:ln>
          </p:spPr>
          <p:txBody>
            <a:bodyPr/>
            <a:lstStyle/>
            <a:p>
              <a:endParaRPr lang="en-CA"/>
            </a:p>
          </p:txBody>
        </p:sp>
        <p:sp>
          <p:nvSpPr>
            <p:cNvPr id="36" name="TextBox 36"/>
            <p:cNvSpPr txBox="1"/>
            <p:nvPr/>
          </p:nvSpPr>
          <p:spPr>
            <a:xfrm>
              <a:off x="76200" y="38100"/>
              <a:ext cx="660400" cy="698500"/>
            </a:xfrm>
            <a:prstGeom prst="rect">
              <a:avLst/>
            </a:prstGeom>
          </p:spPr>
          <p:txBody>
            <a:bodyPr lIns="50800" tIns="50800" rIns="50800" bIns="50800" rtlCol="0" anchor="ctr"/>
            <a:lstStyle/>
            <a:p>
              <a:pPr marL="0" lvl="0" indent="0" algn="ctr">
                <a:lnSpc>
                  <a:spcPts val="3079"/>
                </a:lnSpc>
                <a:spcBef>
                  <a:spcPct val="0"/>
                </a:spcBef>
              </a:pPr>
              <a:endParaRPr/>
            </a:p>
          </p:txBody>
        </p:sp>
      </p:grpSp>
      <p:sp>
        <p:nvSpPr>
          <p:cNvPr id="37" name="Freeform 37"/>
          <p:cNvSpPr/>
          <p:nvPr/>
        </p:nvSpPr>
        <p:spPr>
          <a:xfrm>
            <a:off x="1332226" y="4489014"/>
            <a:ext cx="1728461" cy="1728461"/>
          </a:xfrm>
          <a:custGeom>
            <a:avLst/>
            <a:gdLst/>
            <a:ahLst/>
            <a:cxnLst/>
            <a:rect l="l" t="t" r="r" b="b"/>
            <a:pathLst>
              <a:path w="1728461" h="1728461">
                <a:moveTo>
                  <a:pt x="0" y="0"/>
                </a:moveTo>
                <a:lnTo>
                  <a:pt x="1728461" y="0"/>
                </a:lnTo>
                <a:lnTo>
                  <a:pt x="1728461" y="1728461"/>
                </a:lnTo>
                <a:lnTo>
                  <a:pt x="0" y="1728461"/>
                </a:lnTo>
                <a:lnTo>
                  <a:pt x="0" y="0"/>
                </a:lnTo>
                <a:close/>
              </a:path>
            </a:pathLst>
          </a:custGeom>
          <a:blipFill>
            <a:blip r:embed="rId4"/>
            <a:stretch>
              <a:fillRect/>
            </a:stretch>
          </a:blipFill>
        </p:spPr>
        <p:txBody>
          <a:bodyPr/>
          <a:lstStyle/>
          <a:p>
            <a:endParaRPr lang="en-CA"/>
          </a:p>
        </p:txBody>
      </p:sp>
      <p:sp>
        <p:nvSpPr>
          <p:cNvPr id="38" name="Freeform 38"/>
          <p:cNvSpPr/>
          <p:nvPr/>
        </p:nvSpPr>
        <p:spPr>
          <a:xfrm>
            <a:off x="4215395" y="4489014"/>
            <a:ext cx="1546483" cy="1546483"/>
          </a:xfrm>
          <a:custGeom>
            <a:avLst/>
            <a:gdLst/>
            <a:ahLst/>
            <a:cxnLst/>
            <a:rect l="l" t="t" r="r" b="b"/>
            <a:pathLst>
              <a:path w="1546483" h="1546483">
                <a:moveTo>
                  <a:pt x="0" y="0"/>
                </a:moveTo>
                <a:lnTo>
                  <a:pt x="1546483" y="0"/>
                </a:lnTo>
                <a:lnTo>
                  <a:pt x="1546483" y="1546483"/>
                </a:lnTo>
                <a:lnTo>
                  <a:pt x="0" y="1546483"/>
                </a:lnTo>
                <a:lnTo>
                  <a:pt x="0" y="0"/>
                </a:lnTo>
                <a:close/>
              </a:path>
            </a:pathLst>
          </a:custGeom>
          <a:blipFill>
            <a:blip r:embed="rId5"/>
            <a:stretch>
              <a:fillRect/>
            </a:stretch>
          </a:blipFill>
        </p:spPr>
        <p:txBody>
          <a:bodyPr/>
          <a:lstStyle/>
          <a:p>
            <a:endParaRPr lang="en-CA"/>
          </a:p>
        </p:txBody>
      </p:sp>
      <p:sp>
        <p:nvSpPr>
          <p:cNvPr id="39" name="Freeform 39"/>
          <p:cNvSpPr/>
          <p:nvPr/>
        </p:nvSpPr>
        <p:spPr>
          <a:xfrm>
            <a:off x="7000228" y="4390328"/>
            <a:ext cx="1546483" cy="1546483"/>
          </a:xfrm>
          <a:custGeom>
            <a:avLst/>
            <a:gdLst/>
            <a:ahLst/>
            <a:cxnLst/>
            <a:rect l="l" t="t" r="r" b="b"/>
            <a:pathLst>
              <a:path w="1546483" h="1546483">
                <a:moveTo>
                  <a:pt x="0" y="0"/>
                </a:moveTo>
                <a:lnTo>
                  <a:pt x="1546482" y="0"/>
                </a:lnTo>
                <a:lnTo>
                  <a:pt x="1546482" y="1546482"/>
                </a:lnTo>
                <a:lnTo>
                  <a:pt x="0" y="1546482"/>
                </a:lnTo>
                <a:lnTo>
                  <a:pt x="0" y="0"/>
                </a:lnTo>
                <a:close/>
              </a:path>
            </a:pathLst>
          </a:custGeom>
          <a:blipFill>
            <a:blip r:embed="rId5"/>
            <a:stretch>
              <a:fillRect/>
            </a:stretch>
          </a:blipFill>
        </p:spPr>
        <p:txBody>
          <a:bodyPr/>
          <a:lstStyle/>
          <a:p>
            <a:endParaRPr lang="en-CA"/>
          </a:p>
        </p:txBody>
      </p:sp>
      <p:sp>
        <p:nvSpPr>
          <p:cNvPr id="40" name="Freeform 40"/>
          <p:cNvSpPr/>
          <p:nvPr/>
        </p:nvSpPr>
        <p:spPr>
          <a:xfrm>
            <a:off x="9649857" y="4437890"/>
            <a:ext cx="1779585" cy="1779585"/>
          </a:xfrm>
          <a:custGeom>
            <a:avLst/>
            <a:gdLst/>
            <a:ahLst/>
            <a:cxnLst/>
            <a:rect l="l" t="t" r="r" b="b"/>
            <a:pathLst>
              <a:path w="1779585" h="1779585">
                <a:moveTo>
                  <a:pt x="0" y="0"/>
                </a:moveTo>
                <a:lnTo>
                  <a:pt x="1779585" y="0"/>
                </a:lnTo>
                <a:lnTo>
                  <a:pt x="1779585" y="1779585"/>
                </a:lnTo>
                <a:lnTo>
                  <a:pt x="0" y="1779585"/>
                </a:lnTo>
                <a:lnTo>
                  <a:pt x="0" y="0"/>
                </a:lnTo>
                <a:close/>
              </a:path>
            </a:pathLst>
          </a:custGeom>
          <a:blipFill>
            <a:blip r:embed="rId6"/>
            <a:stretch>
              <a:fillRect/>
            </a:stretch>
          </a:blipFill>
        </p:spPr>
        <p:txBody>
          <a:bodyPr/>
          <a:lstStyle/>
          <a:p>
            <a:endParaRPr lang="en-CA"/>
          </a:p>
        </p:txBody>
      </p:sp>
      <p:sp>
        <p:nvSpPr>
          <p:cNvPr id="41" name="Freeform 41"/>
          <p:cNvSpPr/>
          <p:nvPr/>
        </p:nvSpPr>
        <p:spPr>
          <a:xfrm>
            <a:off x="12531413" y="4657106"/>
            <a:ext cx="1575304" cy="1378391"/>
          </a:xfrm>
          <a:custGeom>
            <a:avLst/>
            <a:gdLst/>
            <a:ahLst/>
            <a:cxnLst/>
            <a:rect l="l" t="t" r="r" b="b"/>
            <a:pathLst>
              <a:path w="1575304" h="1378391">
                <a:moveTo>
                  <a:pt x="0" y="0"/>
                </a:moveTo>
                <a:lnTo>
                  <a:pt x="1575304" y="0"/>
                </a:lnTo>
                <a:lnTo>
                  <a:pt x="1575304" y="1378391"/>
                </a:lnTo>
                <a:lnTo>
                  <a:pt x="0" y="1378391"/>
                </a:lnTo>
                <a:lnTo>
                  <a:pt x="0" y="0"/>
                </a:lnTo>
                <a:close/>
              </a:path>
            </a:pathLst>
          </a:custGeom>
          <a:blipFill>
            <a:blip r:embed="rId7"/>
            <a:stretch>
              <a:fillRect/>
            </a:stretch>
          </a:blipFill>
        </p:spPr>
        <p:txBody>
          <a:bodyPr/>
          <a:lstStyle/>
          <a:p>
            <a:endParaRPr lang="en-CA"/>
          </a:p>
        </p:txBody>
      </p:sp>
      <p:sp>
        <p:nvSpPr>
          <p:cNvPr id="42" name="Freeform 42"/>
          <p:cNvSpPr/>
          <p:nvPr/>
        </p:nvSpPr>
        <p:spPr>
          <a:xfrm>
            <a:off x="15460802" y="4774014"/>
            <a:ext cx="1261483" cy="1261483"/>
          </a:xfrm>
          <a:custGeom>
            <a:avLst/>
            <a:gdLst/>
            <a:ahLst/>
            <a:cxnLst/>
            <a:rect l="l" t="t" r="r" b="b"/>
            <a:pathLst>
              <a:path w="1261483" h="1261483">
                <a:moveTo>
                  <a:pt x="0" y="0"/>
                </a:moveTo>
                <a:lnTo>
                  <a:pt x="1261483" y="0"/>
                </a:lnTo>
                <a:lnTo>
                  <a:pt x="1261483" y="1261483"/>
                </a:lnTo>
                <a:lnTo>
                  <a:pt x="0" y="1261483"/>
                </a:lnTo>
                <a:lnTo>
                  <a:pt x="0" y="0"/>
                </a:lnTo>
                <a:close/>
              </a:path>
            </a:pathLst>
          </a:custGeom>
          <a:blipFill>
            <a:blip r:embed="rId8"/>
            <a:stretch>
              <a:fillRect/>
            </a:stretch>
          </a:blipFill>
        </p:spPr>
        <p:txBody>
          <a:bodyPr/>
          <a:lstStyle/>
          <a:p>
            <a:endParaRPr lang="en-CA"/>
          </a:p>
        </p:txBody>
      </p:sp>
      <p:sp>
        <p:nvSpPr>
          <p:cNvPr id="43" name="TextBox 43"/>
          <p:cNvSpPr txBox="1"/>
          <p:nvPr/>
        </p:nvSpPr>
        <p:spPr>
          <a:xfrm>
            <a:off x="1205938" y="709296"/>
            <a:ext cx="10903798" cy="1866900"/>
          </a:xfrm>
          <a:prstGeom prst="rect">
            <a:avLst/>
          </a:prstGeom>
        </p:spPr>
        <p:txBody>
          <a:bodyPr lIns="0" tIns="0" rIns="0" bIns="0" rtlCol="0" anchor="t">
            <a:spAutoFit/>
          </a:bodyPr>
          <a:lstStyle/>
          <a:p>
            <a:pPr marL="0" lvl="0" indent="0" algn="l">
              <a:lnSpc>
                <a:spcPts val="7358"/>
              </a:lnSpc>
              <a:spcBef>
                <a:spcPct val="0"/>
              </a:spcBef>
            </a:pPr>
            <a:r>
              <a:rPr lang="en-US" sz="6131" spc="147">
                <a:solidFill>
                  <a:srgbClr val="2B485F"/>
                </a:solidFill>
                <a:latin typeface="League Spartan"/>
                <a:ea typeface="League Spartan"/>
                <a:cs typeface="League Spartan"/>
                <a:sym typeface="League Spartan"/>
              </a:rPr>
              <a:t>KEY TECHNOLOGIES AND TOOLS</a:t>
            </a:r>
          </a:p>
        </p:txBody>
      </p:sp>
      <p:sp>
        <p:nvSpPr>
          <p:cNvPr id="44" name="TextBox 44"/>
          <p:cNvSpPr txBox="1"/>
          <p:nvPr/>
        </p:nvSpPr>
        <p:spPr>
          <a:xfrm>
            <a:off x="995192" y="6589722"/>
            <a:ext cx="2413368" cy="1250412"/>
          </a:xfrm>
          <a:prstGeom prst="rect">
            <a:avLst/>
          </a:prstGeom>
        </p:spPr>
        <p:txBody>
          <a:bodyPr lIns="0" tIns="0" rIns="0" bIns="0" rtlCol="0" anchor="t">
            <a:spAutoFit/>
          </a:bodyPr>
          <a:lstStyle/>
          <a:p>
            <a:pPr marL="0" lvl="0" indent="0" algn="ctr">
              <a:lnSpc>
                <a:spcPts val="2479"/>
              </a:lnSpc>
              <a:spcBef>
                <a:spcPct val="0"/>
              </a:spcBef>
            </a:pPr>
            <a:r>
              <a:rPr lang="en-US" sz="1771" spc="210">
                <a:solidFill>
                  <a:srgbClr val="000000"/>
                </a:solidFill>
                <a:latin typeface="Cloud"/>
                <a:ea typeface="Cloud"/>
                <a:cs typeface="Cloud"/>
                <a:sym typeface="Cloud"/>
              </a:rPr>
              <a:t> For scalable and secure cloud infrastructure hosting</a:t>
            </a:r>
          </a:p>
        </p:txBody>
      </p:sp>
      <p:sp>
        <p:nvSpPr>
          <p:cNvPr id="45" name="TextBox 45"/>
          <p:cNvSpPr txBox="1"/>
          <p:nvPr/>
        </p:nvSpPr>
        <p:spPr>
          <a:xfrm>
            <a:off x="3764896" y="6589722"/>
            <a:ext cx="2413368" cy="1564737"/>
          </a:xfrm>
          <a:prstGeom prst="rect">
            <a:avLst/>
          </a:prstGeom>
        </p:spPr>
        <p:txBody>
          <a:bodyPr lIns="0" tIns="0" rIns="0" bIns="0" rtlCol="0" anchor="t">
            <a:spAutoFit/>
          </a:bodyPr>
          <a:lstStyle/>
          <a:p>
            <a:pPr marL="0" lvl="0" indent="0" algn="ctr">
              <a:lnSpc>
                <a:spcPts val="2479"/>
              </a:lnSpc>
              <a:spcBef>
                <a:spcPct val="0"/>
              </a:spcBef>
            </a:pPr>
            <a:r>
              <a:rPr lang="en-US" sz="1771" spc="210">
                <a:solidFill>
                  <a:srgbClr val="000000"/>
                </a:solidFill>
                <a:latin typeface="Cloud"/>
                <a:ea typeface="Cloud"/>
                <a:cs typeface="Cloud"/>
                <a:sym typeface="Cloud"/>
              </a:rPr>
              <a:t>Ensures robust access control and protects resources with continuous verification.</a:t>
            </a:r>
          </a:p>
        </p:txBody>
      </p:sp>
      <p:sp>
        <p:nvSpPr>
          <p:cNvPr id="46" name="TextBox 46"/>
          <p:cNvSpPr txBox="1"/>
          <p:nvPr/>
        </p:nvSpPr>
        <p:spPr>
          <a:xfrm>
            <a:off x="6547058" y="6589722"/>
            <a:ext cx="2413368" cy="1879062"/>
          </a:xfrm>
          <a:prstGeom prst="rect">
            <a:avLst/>
          </a:prstGeom>
        </p:spPr>
        <p:txBody>
          <a:bodyPr lIns="0" tIns="0" rIns="0" bIns="0" rtlCol="0" anchor="t">
            <a:spAutoFit/>
          </a:bodyPr>
          <a:lstStyle/>
          <a:p>
            <a:pPr marL="0" lvl="0" indent="0" algn="ctr">
              <a:lnSpc>
                <a:spcPts val="2479"/>
              </a:lnSpc>
              <a:spcBef>
                <a:spcPct val="0"/>
              </a:spcBef>
            </a:pPr>
            <a:r>
              <a:rPr lang="en-US" sz="1771" spc="210">
                <a:solidFill>
                  <a:srgbClr val="000000"/>
                </a:solidFill>
                <a:latin typeface="Cloud"/>
                <a:ea typeface="Cloud"/>
                <a:cs typeface="Cloud"/>
                <a:sym typeface="Cloud"/>
              </a:rPr>
              <a:t>Secures traffic by masking the origin server’s IP address and preventing direct attacks.</a:t>
            </a:r>
          </a:p>
        </p:txBody>
      </p:sp>
      <p:sp>
        <p:nvSpPr>
          <p:cNvPr id="47" name="TextBox 47"/>
          <p:cNvSpPr txBox="1"/>
          <p:nvPr/>
        </p:nvSpPr>
        <p:spPr>
          <a:xfrm>
            <a:off x="9350952" y="6589722"/>
            <a:ext cx="2413368" cy="1879062"/>
          </a:xfrm>
          <a:prstGeom prst="rect">
            <a:avLst/>
          </a:prstGeom>
        </p:spPr>
        <p:txBody>
          <a:bodyPr lIns="0" tIns="0" rIns="0" bIns="0" rtlCol="0" anchor="t">
            <a:spAutoFit/>
          </a:bodyPr>
          <a:lstStyle/>
          <a:p>
            <a:pPr marL="0" lvl="0" indent="0" algn="ctr">
              <a:lnSpc>
                <a:spcPts val="2479"/>
              </a:lnSpc>
              <a:spcBef>
                <a:spcPct val="0"/>
              </a:spcBef>
            </a:pPr>
            <a:r>
              <a:rPr lang="en-US" sz="1771" spc="210">
                <a:solidFill>
                  <a:srgbClr val="000000"/>
                </a:solidFill>
                <a:latin typeface="Cloud"/>
                <a:ea typeface="Cloud"/>
                <a:cs typeface="Cloud"/>
                <a:sym typeface="Cloud"/>
              </a:rPr>
              <a:t>Provides end-to-end encrypted communication between clients, Cloudflare, and the origin server.</a:t>
            </a:r>
          </a:p>
        </p:txBody>
      </p:sp>
      <p:sp>
        <p:nvSpPr>
          <p:cNvPr id="48" name="TextBox 48"/>
          <p:cNvSpPr txBox="1"/>
          <p:nvPr/>
        </p:nvSpPr>
        <p:spPr>
          <a:xfrm>
            <a:off x="12154845" y="6589722"/>
            <a:ext cx="2413368" cy="1564737"/>
          </a:xfrm>
          <a:prstGeom prst="rect">
            <a:avLst/>
          </a:prstGeom>
        </p:spPr>
        <p:txBody>
          <a:bodyPr lIns="0" tIns="0" rIns="0" bIns="0" rtlCol="0" anchor="t">
            <a:spAutoFit/>
          </a:bodyPr>
          <a:lstStyle/>
          <a:p>
            <a:pPr marL="0" lvl="0" indent="0" algn="ctr">
              <a:lnSpc>
                <a:spcPts val="2479"/>
              </a:lnSpc>
              <a:spcBef>
                <a:spcPct val="0"/>
              </a:spcBef>
            </a:pPr>
            <a:r>
              <a:rPr lang="en-US" sz="1771" spc="210">
                <a:solidFill>
                  <a:srgbClr val="000000"/>
                </a:solidFill>
                <a:latin typeface="Cloud"/>
                <a:ea typeface="Cloud"/>
                <a:cs typeface="Cloud"/>
                <a:sym typeface="Cloud"/>
              </a:rPr>
              <a:t>Protects against DNS spoofing by cryptographically signing DNS records.</a:t>
            </a:r>
          </a:p>
        </p:txBody>
      </p:sp>
      <p:sp>
        <p:nvSpPr>
          <p:cNvPr id="49" name="TextBox 49"/>
          <p:cNvSpPr txBox="1"/>
          <p:nvPr/>
        </p:nvSpPr>
        <p:spPr>
          <a:xfrm>
            <a:off x="14939688" y="6589722"/>
            <a:ext cx="2413368" cy="1564737"/>
          </a:xfrm>
          <a:prstGeom prst="rect">
            <a:avLst/>
          </a:prstGeom>
        </p:spPr>
        <p:txBody>
          <a:bodyPr lIns="0" tIns="0" rIns="0" bIns="0" rtlCol="0" anchor="t">
            <a:spAutoFit/>
          </a:bodyPr>
          <a:lstStyle/>
          <a:p>
            <a:pPr marL="0" lvl="0" indent="0" algn="ctr">
              <a:lnSpc>
                <a:spcPts val="2479"/>
              </a:lnSpc>
              <a:spcBef>
                <a:spcPct val="0"/>
              </a:spcBef>
            </a:pPr>
            <a:r>
              <a:rPr lang="en-US" sz="1771" spc="210">
                <a:solidFill>
                  <a:srgbClr val="000000"/>
                </a:solidFill>
                <a:latin typeface="Cloud"/>
                <a:ea typeface="Cloud"/>
                <a:cs typeface="Cloud"/>
                <a:sym typeface="Cloud"/>
              </a:rPr>
              <a:t>Implements Single Sign-On (SSO) for seamless and secure authentication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930690" y="0"/>
            <a:ext cx="14732382" cy="12193285"/>
            <a:chOff x="0" y="0"/>
            <a:chExt cx="606795" cy="502215"/>
          </a:xfrm>
        </p:grpSpPr>
        <p:sp>
          <p:nvSpPr>
            <p:cNvPr id="3" name="Freeform 3"/>
            <p:cNvSpPr/>
            <p:nvPr/>
          </p:nvSpPr>
          <p:spPr>
            <a:xfrm>
              <a:off x="0" y="0"/>
              <a:ext cx="606795" cy="502215"/>
            </a:xfrm>
            <a:custGeom>
              <a:avLst/>
              <a:gdLst/>
              <a:ahLst/>
              <a:cxnLst/>
              <a:rect l="l" t="t" r="r" b="b"/>
              <a:pathLst>
                <a:path w="606795" h="502215">
                  <a:moveTo>
                    <a:pt x="203200" y="0"/>
                  </a:moveTo>
                  <a:lnTo>
                    <a:pt x="606795" y="0"/>
                  </a:lnTo>
                  <a:lnTo>
                    <a:pt x="403595" y="502215"/>
                  </a:lnTo>
                  <a:lnTo>
                    <a:pt x="0" y="502215"/>
                  </a:lnTo>
                  <a:lnTo>
                    <a:pt x="203200" y="0"/>
                  </a:lnTo>
                  <a:close/>
                </a:path>
              </a:pathLst>
            </a:custGeom>
            <a:solidFill>
              <a:srgbClr val="2B485F"/>
            </a:solidFill>
          </p:spPr>
          <p:txBody>
            <a:bodyPr/>
            <a:lstStyle/>
            <a:p>
              <a:endParaRPr lang="en-CA"/>
            </a:p>
          </p:txBody>
        </p:sp>
        <p:sp>
          <p:nvSpPr>
            <p:cNvPr id="4" name="TextBox 4"/>
            <p:cNvSpPr txBox="1"/>
            <p:nvPr/>
          </p:nvSpPr>
          <p:spPr>
            <a:xfrm>
              <a:off x="101600" y="-66675"/>
              <a:ext cx="403595" cy="568890"/>
            </a:xfrm>
            <a:prstGeom prst="rect">
              <a:avLst/>
            </a:prstGeom>
          </p:spPr>
          <p:txBody>
            <a:bodyPr lIns="50800" tIns="50800" rIns="50800" bIns="50800" rtlCol="0" anchor="ctr"/>
            <a:lstStyle/>
            <a:p>
              <a:pPr algn="ctr">
                <a:lnSpc>
                  <a:spcPts val="3640"/>
                </a:lnSpc>
              </a:pPr>
              <a:endParaRPr/>
            </a:p>
          </p:txBody>
        </p:sp>
      </p:grpSp>
      <p:grpSp>
        <p:nvGrpSpPr>
          <p:cNvPr id="5" name="Group 5"/>
          <p:cNvGrpSpPr/>
          <p:nvPr/>
        </p:nvGrpSpPr>
        <p:grpSpPr>
          <a:xfrm>
            <a:off x="9669958" y="1499427"/>
            <a:ext cx="7570292" cy="7570292"/>
            <a:chOff x="0" y="0"/>
            <a:chExt cx="812800" cy="812800"/>
          </a:xfrm>
        </p:grpSpPr>
        <p:sp>
          <p:nvSpPr>
            <p:cNvPr id="6" name="Freeform 6"/>
            <p:cNvSpPr/>
            <p:nvPr/>
          </p:nvSpPr>
          <p:spPr>
            <a:xfrm>
              <a:off x="0" y="0"/>
              <a:ext cx="812800" cy="812800"/>
            </a:xfrm>
            <a:custGeom>
              <a:avLst/>
              <a:gdLst/>
              <a:ahLst/>
              <a:cxnLst/>
              <a:rect l="l" t="t" r="r" b="b"/>
              <a:pathLst>
                <a:path w="812800" h="812800">
                  <a:moveTo>
                    <a:pt x="23521" y="0"/>
                  </a:moveTo>
                  <a:lnTo>
                    <a:pt x="789279" y="0"/>
                  </a:lnTo>
                  <a:cubicBezTo>
                    <a:pt x="802269" y="0"/>
                    <a:pt x="812800" y="10531"/>
                    <a:pt x="812800" y="23521"/>
                  </a:cubicBezTo>
                  <a:lnTo>
                    <a:pt x="812800" y="789279"/>
                  </a:lnTo>
                  <a:cubicBezTo>
                    <a:pt x="812800" y="802269"/>
                    <a:pt x="802269" y="812800"/>
                    <a:pt x="789279" y="812800"/>
                  </a:cubicBezTo>
                  <a:lnTo>
                    <a:pt x="23521" y="812800"/>
                  </a:lnTo>
                  <a:cubicBezTo>
                    <a:pt x="10531" y="812800"/>
                    <a:pt x="0" y="802269"/>
                    <a:pt x="0" y="789279"/>
                  </a:cubicBezTo>
                  <a:lnTo>
                    <a:pt x="0" y="23521"/>
                  </a:lnTo>
                  <a:cubicBezTo>
                    <a:pt x="0" y="10531"/>
                    <a:pt x="10531" y="0"/>
                    <a:pt x="23521" y="0"/>
                  </a:cubicBezTo>
                  <a:close/>
                </a:path>
              </a:pathLst>
            </a:custGeom>
            <a:blipFill>
              <a:blip r:embed="rId2"/>
              <a:stretch>
                <a:fillRect l="-45238" r="-45238"/>
              </a:stretch>
            </a:blipFill>
          </p:spPr>
          <p:txBody>
            <a:bodyPr/>
            <a:lstStyle/>
            <a:p>
              <a:endParaRPr lang="en-CA"/>
            </a:p>
          </p:txBody>
        </p:sp>
      </p:grpSp>
      <p:sp>
        <p:nvSpPr>
          <p:cNvPr id="7" name="AutoShape 7"/>
          <p:cNvSpPr/>
          <p:nvPr/>
        </p:nvSpPr>
        <p:spPr>
          <a:xfrm>
            <a:off x="525775" y="2257977"/>
            <a:ext cx="2050229" cy="0"/>
          </a:xfrm>
          <a:prstGeom prst="line">
            <a:avLst/>
          </a:prstGeom>
          <a:ln w="85725" cap="flat">
            <a:solidFill>
              <a:srgbClr val="365679"/>
            </a:solidFill>
            <a:prstDash val="solid"/>
            <a:headEnd type="none" w="sm" len="sm"/>
            <a:tailEnd type="none" w="sm" len="sm"/>
          </a:ln>
        </p:spPr>
        <p:txBody>
          <a:bodyPr/>
          <a:lstStyle/>
          <a:p>
            <a:endParaRPr lang="en-CA"/>
          </a:p>
        </p:txBody>
      </p:sp>
      <p:sp>
        <p:nvSpPr>
          <p:cNvPr id="8" name="TextBox 8"/>
          <p:cNvSpPr txBox="1"/>
          <p:nvPr/>
        </p:nvSpPr>
        <p:spPr>
          <a:xfrm>
            <a:off x="525775" y="1157484"/>
            <a:ext cx="11028762" cy="1057630"/>
          </a:xfrm>
          <a:prstGeom prst="rect">
            <a:avLst/>
          </a:prstGeom>
        </p:spPr>
        <p:txBody>
          <a:bodyPr lIns="0" tIns="0" rIns="0" bIns="0" rtlCol="0" anchor="t">
            <a:spAutoFit/>
          </a:bodyPr>
          <a:lstStyle/>
          <a:p>
            <a:pPr algn="l">
              <a:lnSpc>
                <a:spcPts val="8454"/>
              </a:lnSpc>
            </a:pPr>
            <a:r>
              <a:rPr lang="en-US" sz="6503" spc="156">
                <a:solidFill>
                  <a:srgbClr val="365679"/>
                </a:solidFill>
                <a:latin typeface="League Spartan"/>
                <a:ea typeface="League Spartan"/>
                <a:cs typeface="League Spartan"/>
                <a:sym typeface="League Spartan"/>
              </a:rPr>
              <a:t>AWS Instance Setup</a:t>
            </a:r>
          </a:p>
        </p:txBody>
      </p:sp>
      <p:sp>
        <p:nvSpPr>
          <p:cNvPr id="9" name="TextBox 9"/>
          <p:cNvSpPr txBox="1"/>
          <p:nvPr/>
        </p:nvSpPr>
        <p:spPr>
          <a:xfrm>
            <a:off x="525775" y="2350253"/>
            <a:ext cx="8885597" cy="7022361"/>
          </a:xfrm>
          <a:prstGeom prst="rect">
            <a:avLst/>
          </a:prstGeom>
        </p:spPr>
        <p:txBody>
          <a:bodyPr lIns="0" tIns="0" rIns="0" bIns="0" rtlCol="0" anchor="t">
            <a:spAutoFit/>
          </a:bodyPr>
          <a:lstStyle/>
          <a:p>
            <a:pPr algn="l">
              <a:lnSpc>
                <a:spcPts val="3326"/>
              </a:lnSpc>
            </a:pPr>
            <a:r>
              <a:rPr lang="en-US" sz="2376" spc="282">
                <a:solidFill>
                  <a:srgbClr val="000000"/>
                </a:solidFill>
                <a:latin typeface="Inter"/>
                <a:ea typeface="Inter"/>
                <a:cs typeface="Inter"/>
                <a:sym typeface="Inter"/>
              </a:rPr>
              <a:t>Overview:</a:t>
            </a:r>
          </a:p>
          <a:p>
            <a:pPr marL="512983" lvl="1" indent="-256492" algn="l">
              <a:lnSpc>
                <a:spcPts val="3326"/>
              </a:lnSpc>
              <a:buFont typeface="Arial"/>
              <a:buChar char="•"/>
            </a:pPr>
            <a:r>
              <a:rPr lang="en-US" sz="2376" spc="282">
                <a:solidFill>
                  <a:srgbClr val="000000"/>
                </a:solidFill>
                <a:latin typeface="Inter"/>
                <a:ea typeface="Inter"/>
                <a:cs typeface="Inter"/>
                <a:sym typeface="Inter"/>
              </a:rPr>
              <a:t>Deployed and configured an AWS EC2 instance to serve as the origin server.</a:t>
            </a:r>
          </a:p>
          <a:p>
            <a:pPr marL="512983" lvl="1" indent="-256492" algn="l">
              <a:lnSpc>
                <a:spcPts val="3326"/>
              </a:lnSpc>
              <a:buFont typeface="Arial"/>
              <a:buChar char="•"/>
            </a:pPr>
            <a:r>
              <a:rPr lang="en-US" sz="2376" spc="282">
                <a:solidFill>
                  <a:srgbClr val="000000"/>
                </a:solidFill>
                <a:latin typeface="Inter"/>
                <a:ea typeface="Inter"/>
                <a:cs typeface="Inter"/>
                <a:sym typeface="Inter"/>
              </a:rPr>
              <a:t>Ensures scalability, high availability, and secure hosting.</a:t>
            </a:r>
          </a:p>
          <a:p>
            <a:pPr algn="l">
              <a:lnSpc>
                <a:spcPts val="3326"/>
              </a:lnSpc>
            </a:pPr>
            <a:r>
              <a:rPr lang="en-US" sz="2376" spc="282">
                <a:solidFill>
                  <a:srgbClr val="000000"/>
                </a:solidFill>
                <a:latin typeface="Inter"/>
                <a:ea typeface="Inter"/>
                <a:cs typeface="Inter"/>
                <a:sym typeface="Inter"/>
              </a:rPr>
              <a:t>Steps Performed:</a:t>
            </a:r>
          </a:p>
          <a:p>
            <a:pPr marL="512983" lvl="1" indent="-256492" algn="l">
              <a:lnSpc>
                <a:spcPts val="3326"/>
              </a:lnSpc>
              <a:buAutoNum type="arabicPeriod"/>
            </a:pPr>
            <a:r>
              <a:rPr lang="en-US" sz="2376" spc="282">
                <a:solidFill>
                  <a:srgbClr val="000000"/>
                </a:solidFill>
                <a:latin typeface="Inter"/>
                <a:ea typeface="Inter"/>
                <a:cs typeface="Inter"/>
                <a:sym typeface="Inter"/>
              </a:rPr>
              <a:t>Instance Configuration:</a:t>
            </a:r>
          </a:p>
          <a:p>
            <a:pPr marL="1025966" lvl="2" indent="-341989" algn="l">
              <a:lnSpc>
                <a:spcPts val="3326"/>
              </a:lnSpc>
              <a:buFont typeface="Arial"/>
              <a:buChar char="⚬"/>
            </a:pPr>
            <a:r>
              <a:rPr lang="en-US" sz="2376" spc="282">
                <a:solidFill>
                  <a:srgbClr val="000000"/>
                </a:solidFill>
                <a:latin typeface="Inter"/>
                <a:ea typeface="Inter"/>
                <a:cs typeface="Inter"/>
                <a:sym typeface="Inter"/>
              </a:rPr>
              <a:t>Selected an appropriate AMI and configured security groups to restrict traffic to HTTPS and Cloudflare Tunnel ports.</a:t>
            </a:r>
          </a:p>
          <a:p>
            <a:pPr marL="512983" lvl="1" indent="-256492" algn="l">
              <a:lnSpc>
                <a:spcPts val="3326"/>
              </a:lnSpc>
              <a:buAutoNum type="arabicPeriod"/>
            </a:pPr>
            <a:r>
              <a:rPr lang="en-US" sz="2376" spc="282">
                <a:solidFill>
                  <a:srgbClr val="000000"/>
                </a:solidFill>
                <a:latin typeface="Inter"/>
                <a:ea typeface="Inter"/>
                <a:cs typeface="Inter"/>
                <a:sym typeface="Inter"/>
              </a:rPr>
              <a:t>Webpage Hosting:</a:t>
            </a:r>
          </a:p>
          <a:p>
            <a:pPr marL="1025966" lvl="2" indent="-341989" algn="l">
              <a:lnSpc>
                <a:spcPts val="3326"/>
              </a:lnSpc>
              <a:buFont typeface="Arial"/>
              <a:buChar char="⚬"/>
            </a:pPr>
            <a:r>
              <a:rPr lang="en-US" sz="2376" spc="282">
                <a:solidFill>
                  <a:srgbClr val="000000"/>
                </a:solidFill>
                <a:latin typeface="Inter"/>
                <a:ea typeface="Inter"/>
                <a:cs typeface="Inter"/>
                <a:sym typeface="Inter"/>
              </a:rPr>
              <a:t>Deployed a simple HTML webpage displaying the message</a:t>
            </a:r>
          </a:p>
          <a:p>
            <a:pPr marL="1025966" lvl="2" indent="-341989" algn="l">
              <a:lnSpc>
                <a:spcPts val="3326"/>
              </a:lnSpc>
              <a:buFont typeface="Arial"/>
              <a:buChar char="⚬"/>
            </a:pPr>
            <a:r>
              <a:rPr lang="en-US" sz="2376" spc="282">
                <a:solidFill>
                  <a:srgbClr val="000000"/>
                </a:solidFill>
                <a:latin typeface="Inter"/>
                <a:ea typeface="Inter"/>
                <a:cs typeface="Inter"/>
                <a:sym typeface="Inter"/>
              </a:rPr>
              <a:t>"Hello! Welcome to the Secure Sphere Solutions Website. This is a secured page owned by Saima, Gautam, and Devarshi."</a:t>
            </a:r>
          </a:p>
          <a:p>
            <a:pPr algn="l">
              <a:lnSpc>
                <a:spcPts val="3326"/>
              </a:lnSpc>
            </a:pPr>
            <a:endParaRPr lang="en-US" sz="2376" spc="282">
              <a:solidFill>
                <a:srgbClr val="000000"/>
              </a:solidFill>
              <a:latin typeface="Inter"/>
              <a:ea typeface="Inter"/>
              <a:cs typeface="Inter"/>
              <a:sym typeface="Inte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5112380" y="-148194"/>
            <a:ext cx="12727251" cy="12193285"/>
            <a:chOff x="0" y="0"/>
            <a:chExt cx="524208" cy="502215"/>
          </a:xfrm>
        </p:grpSpPr>
        <p:sp>
          <p:nvSpPr>
            <p:cNvPr id="3" name="Freeform 3"/>
            <p:cNvSpPr/>
            <p:nvPr/>
          </p:nvSpPr>
          <p:spPr>
            <a:xfrm>
              <a:off x="0" y="0"/>
              <a:ext cx="524208" cy="502215"/>
            </a:xfrm>
            <a:custGeom>
              <a:avLst/>
              <a:gdLst/>
              <a:ahLst/>
              <a:cxnLst/>
              <a:rect l="l" t="t" r="r" b="b"/>
              <a:pathLst>
                <a:path w="524208" h="502215">
                  <a:moveTo>
                    <a:pt x="203200" y="0"/>
                  </a:moveTo>
                  <a:lnTo>
                    <a:pt x="524208" y="0"/>
                  </a:lnTo>
                  <a:lnTo>
                    <a:pt x="321008" y="502215"/>
                  </a:lnTo>
                  <a:lnTo>
                    <a:pt x="0" y="502215"/>
                  </a:lnTo>
                  <a:lnTo>
                    <a:pt x="203200" y="0"/>
                  </a:lnTo>
                  <a:close/>
                </a:path>
              </a:pathLst>
            </a:custGeom>
            <a:solidFill>
              <a:srgbClr val="2B485F"/>
            </a:solidFill>
          </p:spPr>
          <p:txBody>
            <a:bodyPr/>
            <a:lstStyle/>
            <a:p>
              <a:endParaRPr lang="en-CA"/>
            </a:p>
          </p:txBody>
        </p:sp>
        <p:sp>
          <p:nvSpPr>
            <p:cNvPr id="4" name="TextBox 4"/>
            <p:cNvSpPr txBox="1"/>
            <p:nvPr/>
          </p:nvSpPr>
          <p:spPr>
            <a:xfrm>
              <a:off x="101600" y="-66675"/>
              <a:ext cx="321008" cy="568890"/>
            </a:xfrm>
            <a:prstGeom prst="rect">
              <a:avLst/>
            </a:prstGeom>
          </p:spPr>
          <p:txBody>
            <a:bodyPr lIns="50800" tIns="50800" rIns="50800" bIns="50800" rtlCol="0" anchor="ctr"/>
            <a:lstStyle/>
            <a:p>
              <a:pPr algn="ctr">
                <a:lnSpc>
                  <a:spcPts val="3640"/>
                </a:lnSpc>
              </a:pPr>
              <a:endParaRPr/>
            </a:p>
          </p:txBody>
        </p:sp>
      </p:grpSp>
      <p:grpSp>
        <p:nvGrpSpPr>
          <p:cNvPr id="5" name="Group 5"/>
          <p:cNvGrpSpPr/>
          <p:nvPr/>
        </p:nvGrpSpPr>
        <p:grpSpPr>
          <a:xfrm rot="9902075">
            <a:off x="16254219" y="-861230"/>
            <a:ext cx="3620223" cy="3167695"/>
            <a:chOff x="0" y="0"/>
            <a:chExt cx="812800" cy="711200"/>
          </a:xfrm>
        </p:grpSpPr>
        <p:sp>
          <p:nvSpPr>
            <p:cNvPr id="6" name="Freeform 6"/>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365679"/>
            </a:solidFill>
          </p:spPr>
          <p:txBody>
            <a:bodyPr/>
            <a:lstStyle/>
            <a:p>
              <a:endParaRPr lang="en-CA"/>
            </a:p>
          </p:txBody>
        </p:sp>
        <p:sp>
          <p:nvSpPr>
            <p:cNvPr id="7" name="TextBox 7"/>
            <p:cNvSpPr txBox="1"/>
            <p:nvPr/>
          </p:nvSpPr>
          <p:spPr>
            <a:xfrm>
              <a:off x="127000" y="263525"/>
              <a:ext cx="558800" cy="396875"/>
            </a:xfrm>
            <a:prstGeom prst="rect">
              <a:avLst/>
            </a:prstGeom>
          </p:spPr>
          <p:txBody>
            <a:bodyPr lIns="50800" tIns="50800" rIns="50800" bIns="50800" rtlCol="0" anchor="ctr"/>
            <a:lstStyle/>
            <a:p>
              <a:pPr algn="ctr">
                <a:lnSpc>
                  <a:spcPts val="3640"/>
                </a:lnSpc>
              </a:pPr>
              <a:endParaRPr/>
            </a:p>
          </p:txBody>
        </p:sp>
      </p:grpSp>
      <p:sp>
        <p:nvSpPr>
          <p:cNvPr id="8" name="Freeform 8"/>
          <p:cNvSpPr/>
          <p:nvPr/>
        </p:nvSpPr>
        <p:spPr>
          <a:xfrm>
            <a:off x="698944" y="387567"/>
            <a:ext cx="16353242" cy="9610084"/>
          </a:xfrm>
          <a:custGeom>
            <a:avLst/>
            <a:gdLst/>
            <a:ahLst/>
            <a:cxnLst/>
            <a:rect l="l" t="t" r="r" b="b"/>
            <a:pathLst>
              <a:path w="16353242" h="9610084">
                <a:moveTo>
                  <a:pt x="0" y="0"/>
                </a:moveTo>
                <a:lnTo>
                  <a:pt x="16353242" y="0"/>
                </a:lnTo>
                <a:lnTo>
                  <a:pt x="16353242" y="9610084"/>
                </a:lnTo>
                <a:lnTo>
                  <a:pt x="0" y="9610084"/>
                </a:lnTo>
                <a:lnTo>
                  <a:pt x="0" y="0"/>
                </a:lnTo>
                <a:close/>
              </a:path>
            </a:pathLst>
          </a:custGeom>
          <a:blipFill>
            <a:blip r:embed="rId2"/>
            <a:stretch>
              <a:fillRect l="-296" r="-296" b="-1635"/>
            </a:stretch>
          </a:blipFill>
        </p:spPr>
        <p:txBody>
          <a:bodyPr/>
          <a:lstStyle/>
          <a:p>
            <a:endParaRPr lang="en-CA"/>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6666" b="-16666"/>
            </a:stretch>
          </a:blipFill>
        </p:spPr>
        <p:txBody>
          <a:bodyPr/>
          <a:lstStyle/>
          <a:p>
            <a:endParaRPr lang="en-CA"/>
          </a:p>
        </p:txBody>
      </p:sp>
      <p:sp>
        <p:nvSpPr>
          <p:cNvPr id="3" name="Freeform 3"/>
          <p:cNvSpPr/>
          <p:nvPr/>
        </p:nvSpPr>
        <p:spPr>
          <a:xfrm rot="5400000">
            <a:off x="11667049" y="2330277"/>
            <a:ext cx="10287000" cy="5704609"/>
          </a:xfrm>
          <a:custGeom>
            <a:avLst/>
            <a:gdLst/>
            <a:ahLst/>
            <a:cxnLst/>
            <a:rect l="l" t="t" r="r" b="b"/>
            <a:pathLst>
              <a:path w="10287000" h="5704609">
                <a:moveTo>
                  <a:pt x="0" y="0"/>
                </a:moveTo>
                <a:lnTo>
                  <a:pt x="10287000" y="0"/>
                </a:lnTo>
                <a:lnTo>
                  <a:pt x="10287000" y="5704609"/>
                </a:lnTo>
                <a:lnTo>
                  <a:pt x="0" y="5704609"/>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sq">
            <a:noFill/>
            <a:prstDash val="solid"/>
            <a:miter/>
          </a:ln>
        </p:spPr>
        <p:txBody>
          <a:bodyPr/>
          <a:lstStyle/>
          <a:p>
            <a:endParaRPr lang="en-CA"/>
          </a:p>
        </p:txBody>
      </p:sp>
      <p:grpSp>
        <p:nvGrpSpPr>
          <p:cNvPr id="4" name="Group 4"/>
          <p:cNvGrpSpPr/>
          <p:nvPr/>
        </p:nvGrpSpPr>
        <p:grpSpPr>
          <a:xfrm>
            <a:off x="447623" y="2253198"/>
            <a:ext cx="8972996" cy="5858768"/>
            <a:chOff x="0" y="0"/>
            <a:chExt cx="2363258" cy="1543050"/>
          </a:xfrm>
        </p:grpSpPr>
        <p:sp>
          <p:nvSpPr>
            <p:cNvPr id="5" name="Freeform 5"/>
            <p:cNvSpPr/>
            <p:nvPr/>
          </p:nvSpPr>
          <p:spPr>
            <a:xfrm>
              <a:off x="0" y="0"/>
              <a:ext cx="2363258" cy="1543050"/>
            </a:xfrm>
            <a:custGeom>
              <a:avLst/>
              <a:gdLst/>
              <a:ahLst/>
              <a:cxnLst/>
              <a:rect l="l" t="t" r="r" b="b"/>
              <a:pathLst>
                <a:path w="2363258" h="1543050">
                  <a:moveTo>
                    <a:pt x="13805" y="0"/>
                  </a:moveTo>
                  <a:lnTo>
                    <a:pt x="2349453" y="0"/>
                  </a:lnTo>
                  <a:cubicBezTo>
                    <a:pt x="2353115" y="0"/>
                    <a:pt x="2356626" y="1454"/>
                    <a:pt x="2359215" y="4043"/>
                  </a:cubicBezTo>
                  <a:cubicBezTo>
                    <a:pt x="2361804" y="6632"/>
                    <a:pt x="2363258" y="10144"/>
                    <a:pt x="2363258" y="13805"/>
                  </a:cubicBezTo>
                  <a:lnTo>
                    <a:pt x="2363258" y="1529245"/>
                  </a:lnTo>
                  <a:cubicBezTo>
                    <a:pt x="2363258" y="1536869"/>
                    <a:pt x="2357078" y="1543050"/>
                    <a:pt x="2349453" y="1543050"/>
                  </a:cubicBezTo>
                  <a:lnTo>
                    <a:pt x="13805" y="1543050"/>
                  </a:lnTo>
                  <a:cubicBezTo>
                    <a:pt x="6181" y="1543050"/>
                    <a:pt x="0" y="1536869"/>
                    <a:pt x="0" y="1529245"/>
                  </a:cubicBezTo>
                  <a:lnTo>
                    <a:pt x="0" y="13805"/>
                  </a:lnTo>
                  <a:cubicBezTo>
                    <a:pt x="0" y="6181"/>
                    <a:pt x="6181" y="0"/>
                    <a:pt x="13805" y="0"/>
                  </a:cubicBezTo>
                  <a:close/>
                </a:path>
              </a:pathLst>
            </a:custGeom>
            <a:solidFill>
              <a:srgbClr val="FFFFFF"/>
            </a:solidFill>
          </p:spPr>
          <p:txBody>
            <a:bodyPr/>
            <a:lstStyle/>
            <a:p>
              <a:endParaRPr lang="en-CA"/>
            </a:p>
          </p:txBody>
        </p:sp>
        <p:sp>
          <p:nvSpPr>
            <p:cNvPr id="6" name="TextBox 6"/>
            <p:cNvSpPr txBox="1"/>
            <p:nvPr/>
          </p:nvSpPr>
          <p:spPr>
            <a:xfrm>
              <a:off x="0" y="-47625"/>
              <a:ext cx="2363258" cy="1590675"/>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rot="-10800000">
            <a:off x="2568406" y="7916168"/>
            <a:ext cx="9283968" cy="1101375"/>
          </a:xfrm>
          <a:custGeom>
            <a:avLst/>
            <a:gdLst/>
            <a:ahLst/>
            <a:cxnLst/>
            <a:rect l="l" t="t" r="r" b="b"/>
            <a:pathLst>
              <a:path w="9283968" h="1101375">
                <a:moveTo>
                  <a:pt x="0" y="0"/>
                </a:moveTo>
                <a:lnTo>
                  <a:pt x="9283968" y="0"/>
                </a:lnTo>
                <a:lnTo>
                  <a:pt x="9283968" y="1101375"/>
                </a:lnTo>
                <a:lnTo>
                  <a:pt x="0" y="1101375"/>
                </a:lnTo>
                <a:lnTo>
                  <a:pt x="0" y="0"/>
                </a:lnTo>
                <a:close/>
              </a:path>
            </a:pathLst>
          </a:custGeom>
          <a:blipFill>
            <a:blip r:embed="rId5">
              <a:alphaModFix amt="89000"/>
            </a:blip>
            <a:stretch>
              <a:fillRect b="-142346"/>
            </a:stretch>
          </a:blipFill>
        </p:spPr>
        <p:txBody>
          <a:bodyPr/>
          <a:lstStyle/>
          <a:p>
            <a:endParaRPr lang="en-CA"/>
          </a:p>
        </p:txBody>
      </p:sp>
      <p:sp>
        <p:nvSpPr>
          <p:cNvPr id="8" name="AutoShape 8"/>
          <p:cNvSpPr/>
          <p:nvPr/>
        </p:nvSpPr>
        <p:spPr>
          <a:xfrm>
            <a:off x="447623" y="2807732"/>
            <a:ext cx="8972996" cy="0"/>
          </a:xfrm>
          <a:prstGeom prst="line">
            <a:avLst/>
          </a:prstGeom>
          <a:ln w="38100" cap="flat">
            <a:solidFill>
              <a:srgbClr val="2B485F"/>
            </a:solidFill>
            <a:prstDash val="solid"/>
            <a:headEnd type="none" w="sm" len="sm"/>
            <a:tailEnd type="none" w="sm" len="sm"/>
          </a:ln>
        </p:spPr>
        <p:txBody>
          <a:bodyPr/>
          <a:lstStyle/>
          <a:p>
            <a:endParaRPr lang="en-CA"/>
          </a:p>
        </p:txBody>
      </p:sp>
      <p:sp>
        <p:nvSpPr>
          <p:cNvPr id="9" name="Freeform 9"/>
          <p:cNvSpPr/>
          <p:nvPr/>
        </p:nvSpPr>
        <p:spPr>
          <a:xfrm>
            <a:off x="9997814" y="2298008"/>
            <a:ext cx="7920861" cy="6267381"/>
          </a:xfrm>
          <a:custGeom>
            <a:avLst/>
            <a:gdLst/>
            <a:ahLst/>
            <a:cxnLst/>
            <a:rect l="l" t="t" r="r" b="b"/>
            <a:pathLst>
              <a:path w="7920861" h="6267381">
                <a:moveTo>
                  <a:pt x="0" y="0"/>
                </a:moveTo>
                <a:lnTo>
                  <a:pt x="7920861" y="0"/>
                </a:lnTo>
                <a:lnTo>
                  <a:pt x="7920861" y="6267381"/>
                </a:lnTo>
                <a:lnTo>
                  <a:pt x="0" y="6267381"/>
                </a:lnTo>
                <a:lnTo>
                  <a:pt x="0" y="0"/>
                </a:lnTo>
                <a:close/>
              </a:path>
            </a:pathLst>
          </a:custGeom>
          <a:blipFill>
            <a:blip r:embed="rId6"/>
            <a:stretch>
              <a:fillRect/>
            </a:stretch>
          </a:blipFill>
        </p:spPr>
        <p:txBody>
          <a:bodyPr/>
          <a:lstStyle/>
          <a:p>
            <a:endParaRPr lang="en-CA"/>
          </a:p>
        </p:txBody>
      </p:sp>
      <p:sp>
        <p:nvSpPr>
          <p:cNvPr id="10" name="TextBox 10"/>
          <p:cNvSpPr txBox="1"/>
          <p:nvPr/>
        </p:nvSpPr>
        <p:spPr>
          <a:xfrm>
            <a:off x="447623" y="836049"/>
            <a:ext cx="12147934" cy="962025"/>
          </a:xfrm>
          <a:prstGeom prst="rect">
            <a:avLst/>
          </a:prstGeom>
        </p:spPr>
        <p:txBody>
          <a:bodyPr lIns="0" tIns="0" rIns="0" bIns="0" rtlCol="0" anchor="t">
            <a:spAutoFit/>
          </a:bodyPr>
          <a:lstStyle/>
          <a:p>
            <a:pPr marL="0" lvl="0" indent="0" algn="l">
              <a:lnSpc>
                <a:spcPts val="7535"/>
              </a:lnSpc>
              <a:spcBef>
                <a:spcPct val="0"/>
              </a:spcBef>
            </a:pPr>
            <a:r>
              <a:rPr lang="en-US" sz="6279" spc="150">
                <a:solidFill>
                  <a:srgbClr val="2B485F"/>
                </a:solidFill>
                <a:latin typeface="League Spartan"/>
                <a:ea typeface="League Spartan"/>
                <a:cs typeface="League Spartan"/>
                <a:sym typeface="League Spartan"/>
              </a:rPr>
              <a:t>CLOUDFLARE INTEGRATION</a:t>
            </a:r>
          </a:p>
        </p:txBody>
      </p:sp>
      <p:sp>
        <p:nvSpPr>
          <p:cNvPr id="11" name="TextBox 11"/>
          <p:cNvSpPr txBox="1"/>
          <p:nvPr/>
        </p:nvSpPr>
        <p:spPr>
          <a:xfrm>
            <a:off x="577760" y="2880555"/>
            <a:ext cx="8972996" cy="5035613"/>
          </a:xfrm>
          <a:prstGeom prst="rect">
            <a:avLst/>
          </a:prstGeom>
        </p:spPr>
        <p:txBody>
          <a:bodyPr lIns="0" tIns="0" rIns="0" bIns="0" rtlCol="0" anchor="t">
            <a:spAutoFit/>
          </a:bodyPr>
          <a:lstStyle/>
          <a:p>
            <a:pPr algn="l">
              <a:lnSpc>
                <a:spcPts val="3321"/>
              </a:lnSpc>
            </a:pPr>
            <a:r>
              <a:rPr lang="en-US" sz="2372" b="1" spc="282">
                <a:solidFill>
                  <a:srgbClr val="000000"/>
                </a:solidFill>
                <a:latin typeface="Cloud Bold"/>
                <a:ea typeface="Cloud Bold"/>
                <a:cs typeface="Cloud Bold"/>
                <a:sym typeface="Cloud Bold"/>
              </a:rPr>
              <a:t>Overview:</a:t>
            </a:r>
          </a:p>
          <a:p>
            <a:pPr marL="512224" lvl="1" indent="-256112" algn="l">
              <a:lnSpc>
                <a:spcPts val="3321"/>
              </a:lnSpc>
              <a:buFont typeface="Arial"/>
              <a:buChar char="•"/>
            </a:pPr>
            <a:r>
              <a:rPr lang="en-US" sz="2372" spc="282">
                <a:solidFill>
                  <a:srgbClr val="000000"/>
                </a:solidFill>
                <a:latin typeface="Cloud"/>
                <a:ea typeface="Cloud"/>
                <a:cs typeface="Cloud"/>
                <a:sym typeface="Cloud"/>
              </a:rPr>
              <a:t>Integrated Cloudflare’s security and proxying services to enhance the security, performance, and reliability of the origin server.</a:t>
            </a:r>
          </a:p>
          <a:p>
            <a:pPr algn="l">
              <a:lnSpc>
                <a:spcPts val="3321"/>
              </a:lnSpc>
            </a:pPr>
            <a:r>
              <a:rPr lang="en-US" sz="2372" b="1" spc="282">
                <a:solidFill>
                  <a:srgbClr val="000000"/>
                </a:solidFill>
                <a:latin typeface="Cloud Bold"/>
                <a:ea typeface="Cloud Bold"/>
                <a:cs typeface="Cloud Bold"/>
                <a:sym typeface="Cloud Bold"/>
              </a:rPr>
              <a:t>Steps Performed:</a:t>
            </a:r>
          </a:p>
          <a:p>
            <a:pPr marL="512224" lvl="1" indent="-256112" algn="l">
              <a:lnSpc>
                <a:spcPts val="3321"/>
              </a:lnSpc>
              <a:buAutoNum type="arabicPeriod"/>
            </a:pPr>
            <a:r>
              <a:rPr lang="en-US" sz="2372" spc="282">
                <a:solidFill>
                  <a:srgbClr val="000000"/>
                </a:solidFill>
                <a:latin typeface="Cloud"/>
                <a:ea typeface="Cloud"/>
                <a:cs typeface="Cloud"/>
                <a:sym typeface="Cloud"/>
              </a:rPr>
              <a:t>Domain Purchase:</a:t>
            </a:r>
          </a:p>
          <a:p>
            <a:pPr marL="1024448" lvl="2" indent="-341483" algn="l">
              <a:lnSpc>
                <a:spcPts val="3321"/>
              </a:lnSpc>
              <a:buFont typeface="Arial"/>
              <a:buChar char="⚬"/>
            </a:pPr>
            <a:r>
              <a:rPr lang="en-US" sz="2372" spc="282">
                <a:solidFill>
                  <a:srgbClr val="000000"/>
                </a:solidFill>
                <a:latin typeface="Cloud"/>
                <a:ea typeface="Cloud"/>
                <a:cs typeface="Cloud"/>
                <a:sym typeface="Cloud"/>
              </a:rPr>
              <a:t>Acquired a domain name from GoDaddy to provide a professional and unique identity for the project.</a:t>
            </a:r>
          </a:p>
          <a:p>
            <a:pPr marL="1024448" lvl="2" indent="-341483" algn="l">
              <a:lnSpc>
                <a:spcPts val="3321"/>
              </a:lnSpc>
              <a:buFont typeface="Arial"/>
              <a:buChar char="⚬"/>
            </a:pPr>
            <a:r>
              <a:rPr lang="en-US" sz="2372" spc="282">
                <a:solidFill>
                  <a:srgbClr val="000000"/>
                </a:solidFill>
                <a:latin typeface="Cloud"/>
                <a:ea typeface="Cloud"/>
                <a:cs typeface="Cloud"/>
                <a:sym typeface="Cloud"/>
              </a:rPr>
              <a:t>Configured the domain to work seamlessly with Cloudflare.</a:t>
            </a:r>
          </a:p>
          <a:p>
            <a:pPr marL="0" lvl="0" indent="0" algn="l">
              <a:lnSpc>
                <a:spcPts val="3321"/>
              </a:lnSpc>
              <a:spcBef>
                <a:spcPct val="0"/>
              </a:spcBef>
            </a:pPr>
            <a:endParaRPr lang="en-US" sz="2372" spc="282">
              <a:solidFill>
                <a:srgbClr val="000000"/>
              </a:solidFill>
              <a:latin typeface="Cloud"/>
              <a:ea typeface="Cloud"/>
              <a:cs typeface="Cloud"/>
              <a:sym typeface="Clou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78826" y="1498310"/>
            <a:ext cx="7590865" cy="3249786"/>
            <a:chOff x="0" y="0"/>
            <a:chExt cx="1999240" cy="855911"/>
          </a:xfrm>
        </p:grpSpPr>
        <p:sp>
          <p:nvSpPr>
            <p:cNvPr id="3" name="Freeform 3"/>
            <p:cNvSpPr/>
            <p:nvPr/>
          </p:nvSpPr>
          <p:spPr>
            <a:xfrm>
              <a:off x="0" y="0"/>
              <a:ext cx="1999240" cy="855911"/>
            </a:xfrm>
            <a:custGeom>
              <a:avLst/>
              <a:gdLst/>
              <a:ahLst/>
              <a:cxnLst/>
              <a:rect l="l" t="t" r="r" b="b"/>
              <a:pathLst>
                <a:path w="1999240" h="855911">
                  <a:moveTo>
                    <a:pt x="50995" y="0"/>
                  </a:moveTo>
                  <a:lnTo>
                    <a:pt x="1948245" y="0"/>
                  </a:lnTo>
                  <a:cubicBezTo>
                    <a:pt x="1961770" y="0"/>
                    <a:pt x="1974741" y="5373"/>
                    <a:pt x="1984304" y="14936"/>
                  </a:cubicBezTo>
                  <a:cubicBezTo>
                    <a:pt x="1993868" y="24499"/>
                    <a:pt x="1999240" y="37470"/>
                    <a:pt x="1999240" y="50995"/>
                  </a:cubicBezTo>
                  <a:lnTo>
                    <a:pt x="1999240" y="804916"/>
                  </a:lnTo>
                  <a:cubicBezTo>
                    <a:pt x="1999240" y="818440"/>
                    <a:pt x="1993868" y="831411"/>
                    <a:pt x="1984304" y="840975"/>
                  </a:cubicBezTo>
                  <a:cubicBezTo>
                    <a:pt x="1974741" y="850538"/>
                    <a:pt x="1961770" y="855911"/>
                    <a:pt x="1948245" y="855911"/>
                  </a:cubicBezTo>
                  <a:lnTo>
                    <a:pt x="50995" y="855911"/>
                  </a:lnTo>
                  <a:cubicBezTo>
                    <a:pt x="37470" y="855911"/>
                    <a:pt x="24499" y="850538"/>
                    <a:pt x="14936" y="840975"/>
                  </a:cubicBezTo>
                  <a:cubicBezTo>
                    <a:pt x="5373" y="831411"/>
                    <a:pt x="0" y="818440"/>
                    <a:pt x="0" y="804916"/>
                  </a:cubicBezTo>
                  <a:lnTo>
                    <a:pt x="0" y="50995"/>
                  </a:lnTo>
                  <a:cubicBezTo>
                    <a:pt x="0" y="37470"/>
                    <a:pt x="5373" y="24499"/>
                    <a:pt x="14936" y="14936"/>
                  </a:cubicBezTo>
                  <a:cubicBezTo>
                    <a:pt x="24499" y="5373"/>
                    <a:pt x="37470" y="0"/>
                    <a:pt x="50995" y="0"/>
                  </a:cubicBezTo>
                  <a:close/>
                </a:path>
              </a:pathLst>
            </a:custGeom>
            <a:solidFill>
              <a:srgbClr val="2B485F"/>
            </a:solidFill>
          </p:spPr>
          <p:txBody>
            <a:bodyPr/>
            <a:lstStyle/>
            <a:p>
              <a:endParaRPr lang="en-CA"/>
            </a:p>
          </p:txBody>
        </p:sp>
        <p:sp>
          <p:nvSpPr>
            <p:cNvPr id="4" name="TextBox 4"/>
            <p:cNvSpPr txBox="1"/>
            <p:nvPr/>
          </p:nvSpPr>
          <p:spPr>
            <a:xfrm>
              <a:off x="0" y="-66675"/>
              <a:ext cx="1999240" cy="922586"/>
            </a:xfrm>
            <a:prstGeom prst="rect">
              <a:avLst/>
            </a:prstGeom>
          </p:spPr>
          <p:txBody>
            <a:bodyPr lIns="50800" tIns="50800" rIns="50800" bIns="50800" rtlCol="0" anchor="ctr"/>
            <a:lstStyle/>
            <a:p>
              <a:pPr algn="ctr">
                <a:lnSpc>
                  <a:spcPts val="3640"/>
                </a:lnSpc>
              </a:pPr>
              <a:endParaRPr/>
            </a:p>
          </p:txBody>
        </p:sp>
      </p:grpSp>
      <p:grpSp>
        <p:nvGrpSpPr>
          <p:cNvPr id="5" name="Group 5"/>
          <p:cNvGrpSpPr/>
          <p:nvPr/>
        </p:nvGrpSpPr>
        <p:grpSpPr>
          <a:xfrm>
            <a:off x="878826" y="6008514"/>
            <a:ext cx="7590865" cy="3249786"/>
            <a:chOff x="0" y="0"/>
            <a:chExt cx="1999240" cy="855911"/>
          </a:xfrm>
        </p:grpSpPr>
        <p:sp>
          <p:nvSpPr>
            <p:cNvPr id="6" name="Freeform 6"/>
            <p:cNvSpPr/>
            <p:nvPr/>
          </p:nvSpPr>
          <p:spPr>
            <a:xfrm>
              <a:off x="0" y="0"/>
              <a:ext cx="1999240" cy="855911"/>
            </a:xfrm>
            <a:custGeom>
              <a:avLst/>
              <a:gdLst/>
              <a:ahLst/>
              <a:cxnLst/>
              <a:rect l="l" t="t" r="r" b="b"/>
              <a:pathLst>
                <a:path w="1999240" h="855911">
                  <a:moveTo>
                    <a:pt x="50995" y="0"/>
                  </a:moveTo>
                  <a:lnTo>
                    <a:pt x="1948245" y="0"/>
                  </a:lnTo>
                  <a:cubicBezTo>
                    <a:pt x="1961770" y="0"/>
                    <a:pt x="1974741" y="5373"/>
                    <a:pt x="1984304" y="14936"/>
                  </a:cubicBezTo>
                  <a:cubicBezTo>
                    <a:pt x="1993868" y="24499"/>
                    <a:pt x="1999240" y="37470"/>
                    <a:pt x="1999240" y="50995"/>
                  </a:cubicBezTo>
                  <a:lnTo>
                    <a:pt x="1999240" y="804916"/>
                  </a:lnTo>
                  <a:cubicBezTo>
                    <a:pt x="1999240" y="818440"/>
                    <a:pt x="1993868" y="831411"/>
                    <a:pt x="1984304" y="840975"/>
                  </a:cubicBezTo>
                  <a:cubicBezTo>
                    <a:pt x="1974741" y="850538"/>
                    <a:pt x="1961770" y="855911"/>
                    <a:pt x="1948245" y="855911"/>
                  </a:cubicBezTo>
                  <a:lnTo>
                    <a:pt x="50995" y="855911"/>
                  </a:lnTo>
                  <a:cubicBezTo>
                    <a:pt x="37470" y="855911"/>
                    <a:pt x="24499" y="850538"/>
                    <a:pt x="14936" y="840975"/>
                  </a:cubicBezTo>
                  <a:cubicBezTo>
                    <a:pt x="5373" y="831411"/>
                    <a:pt x="0" y="818440"/>
                    <a:pt x="0" y="804916"/>
                  </a:cubicBezTo>
                  <a:lnTo>
                    <a:pt x="0" y="50995"/>
                  </a:lnTo>
                  <a:cubicBezTo>
                    <a:pt x="0" y="37470"/>
                    <a:pt x="5373" y="24499"/>
                    <a:pt x="14936" y="14936"/>
                  </a:cubicBezTo>
                  <a:cubicBezTo>
                    <a:pt x="24499" y="5373"/>
                    <a:pt x="37470" y="0"/>
                    <a:pt x="50995" y="0"/>
                  </a:cubicBezTo>
                  <a:close/>
                </a:path>
              </a:pathLst>
            </a:custGeom>
            <a:solidFill>
              <a:srgbClr val="2B485F"/>
            </a:solidFill>
          </p:spPr>
          <p:txBody>
            <a:bodyPr/>
            <a:lstStyle/>
            <a:p>
              <a:endParaRPr lang="en-CA"/>
            </a:p>
          </p:txBody>
        </p:sp>
        <p:sp>
          <p:nvSpPr>
            <p:cNvPr id="7" name="TextBox 7"/>
            <p:cNvSpPr txBox="1"/>
            <p:nvPr/>
          </p:nvSpPr>
          <p:spPr>
            <a:xfrm>
              <a:off x="0" y="-66675"/>
              <a:ext cx="1999240" cy="922586"/>
            </a:xfrm>
            <a:prstGeom prst="rect">
              <a:avLst/>
            </a:prstGeom>
          </p:spPr>
          <p:txBody>
            <a:bodyPr lIns="50800" tIns="50800" rIns="50800" bIns="50800" rtlCol="0" anchor="ctr"/>
            <a:lstStyle/>
            <a:p>
              <a:pPr algn="ctr">
                <a:lnSpc>
                  <a:spcPts val="3640"/>
                </a:lnSpc>
              </a:pPr>
              <a:endParaRPr/>
            </a:p>
          </p:txBody>
        </p:sp>
      </p:grpSp>
      <p:sp>
        <p:nvSpPr>
          <p:cNvPr id="8" name="Freeform 8"/>
          <p:cNvSpPr/>
          <p:nvPr/>
        </p:nvSpPr>
        <p:spPr>
          <a:xfrm>
            <a:off x="8920731" y="632055"/>
            <a:ext cx="6888771" cy="4116040"/>
          </a:xfrm>
          <a:custGeom>
            <a:avLst/>
            <a:gdLst/>
            <a:ahLst/>
            <a:cxnLst/>
            <a:rect l="l" t="t" r="r" b="b"/>
            <a:pathLst>
              <a:path w="6888771" h="4116040">
                <a:moveTo>
                  <a:pt x="0" y="0"/>
                </a:moveTo>
                <a:lnTo>
                  <a:pt x="6888771" y="0"/>
                </a:lnTo>
                <a:lnTo>
                  <a:pt x="6888771" y="4116040"/>
                </a:lnTo>
                <a:lnTo>
                  <a:pt x="0" y="4116040"/>
                </a:lnTo>
                <a:lnTo>
                  <a:pt x="0" y="0"/>
                </a:lnTo>
                <a:close/>
              </a:path>
            </a:pathLst>
          </a:custGeom>
          <a:blipFill>
            <a:blip r:embed="rId2"/>
            <a:stretch>
              <a:fillRect/>
            </a:stretch>
          </a:blipFill>
        </p:spPr>
        <p:txBody>
          <a:bodyPr/>
          <a:lstStyle/>
          <a:p>
            <a:endParaRPr lang="en-CA"/>
          </a:p>
        </p:txBody>
      </p:sp>
      <p:sp>
        <p:nvSpPr>
          <p:cNvPr id="9" name="Freeform 9"/>
          <p:cNvSpPr/>
          <p:nvPr/>
        </p:nvSpPr>
        <p:spPr>
          <a:xfrm>
            <a:off x="9144000" y="5085420"/>
            <a:ext cx="7027383" cy="4614085"/>
          </a:xfrm>
          <a:custGeom>
            <a:avLst/>
            <a:gdLst/>
            <a:ahLst/>
            <a:cxnLst/>
            <a:rect l="l" t="t" r="r" b="b"/>
            <a:pathLst>
              <a:path w="7027383" h="4614085">
                <a:moveTo>
                  <a:pt x="0" y="0"/>
                </a:moveTo>
                <a:lnTo>
                  <a:pt x="7027383" y="0"/>
                </a:lnTo>
                <a:lnTo>
                  <a:pt x="7027383" y="4614085"/>
                </a:lnTo>
                <a:lnTo>
                  <a:pt x="0" y="4614085"/>
                </a:lnTo>
                <a:lnTo>
                  <a:pt x="0" y="0"/>
                </a:lnTo>
                <a:close/>
              </a:path>
            </a:pathLst>
          </a:custGeom>
          <a:blipFill>
            <a:blip r:embed="rId3"/>
            <a:stretch>
              <a:fillRect l="-1092" r="-1092" b="-62327"/>
            </a:stretch>
          </a:blipFill>
        </p:spPr>
        <p:txBody>
          <a:bodyPr/>
          <a:lstStyle/>
          <a:p>
            <a:endParaRPr lang="en-CA"/>
          </a:p>
        </p:txBody>
      </p:sp>
      <p:sp>
        <p:nvSpPr>
          <p:cNvPr id="10" name="TextBox 10"/>
          <p:cNvSpPr txBox="1"/>
          <p:nvPr/>
        </p:nvSpPr>
        <p:spPr>
          <a:xfrm>
            <a:off x="1493888" y="6687616"/>
            <a:ext cx="4720328" cy="495300"/>
          </a:xfrm>
          <a:prstGeom prst="rect">
            <a:avLst/>
          </a:prstGeom>
        </p:spPr>
        <p:txBody>
          <a:bodyPr lIns="0" tIns="0" rIns="0" bIns="0" rtlCol="0" anchor="t">
            <a:spAutoFit/>
          </a:bodyPr>
          <a:lstStyle/>
          <a:p>
            <a:pPr algn="l">
              <a:lnSpc>
                <a:spcPts val="3900"/>
              </a:lnSpc>
            </a:pPr>
            <a:r>
              <a:rPr lang="en-US" sz="3000" spc="72">
                <a:solidFill>
                  <a:srgbClr val="FFFFFF"/>
                </a:solidFill>
                <a:latin typeface="League Spartan"/>
                <a:ea typeface="League Spartan"/>
                <a:cs typeface="League Spartan"/>
                <a:sym typeface="League Spartan"/>
              </a:rPr>
              <a:t>DNSSEC Activation</a:t>
            </a:r>
          </a:p>
        </p:txBody>
      </p:sp>
      <p:sp>
        <p:nvSpPr>
          <p:cNvPr id="11" name="TextBox 11"/>
          <p:cNvSpPr txBox="1"/>
          <p:nvPr/>
        </p:nvSpPr>
        <p:spPr>
          <a:xfrm>
            <a:off x="1504176" y="7354362"/>
            <a:ext cx="6650202" cy="1153794"/>
          </a:xfrm>
          <a:prstGeom prst="rect">
            <a:avLst/>
          </a:prstGeom>
        </p:spPr>
        <p:txBody>
          <a:bodyPr lIns="0" tIns="0" rIns="0" bIns="0" rtlCol="0" anchor="t">
            <a:spAutoFit/>
          </a:bodyPr>
          <a:lstStyle/>
          <a:p>
            <a:pPr algn="l">
              <a:lnSpc>
                <a:spcPts val="3080"/>
              </a:lnSpc>
            </a:pPr>
            <a:r>
              <a:rPr lang="en-US" sz="2200" spc="261">
                <a:solidFill>
                  <a:srgbClr val="FFFFFF"/>
                </a:solidFill>
                <a:latin typeface="Inter"/>
                <a:ea typeface="Inter"/>
                <a:cs typeface="Inter"/>
                <a:sym typeface="Inter"/>
              </a:rPr>
              <a:t>Enabled DNSSEC to protect against DNS spoofing and ensure the authenticity of DNS queries.</a:t>
            </a:r>
          </a:p>
        </p:txBody>
      </p:sp>
      <p:sp>
        <p:nvSpPr>
          <p:cNvPr id="12" name="TextBox 12"/>
          <p:cNvSpPr txBox="1"/>
          <p:nvPr/>
        </p:nvSpPr>
        <p:spPr>
          <a:xfrm>
            <a:off x="1344014" y="1980988"/>
            <a:ext cx="4329916" cy="495300"/>
          </a:xfrm>
          <a:prstGeom prst="rect">
            <a:avLst/>
          </a:prstGeom>
        </p:spPr>
        <p:txBody>
          <a:bodyPr lIns="0" tIns="0" rIns="0" bIns="0" rtlCol="0" anchor="t">
            <a:spAutoFit/>
          </a:bodyPr>
          <a:lstStyle/>
          <a:p>
            <a:pPr algn="l">
              <a:lnSpc>
                <a:spcPts val="3900"/>
              </a:lnSpc>
            </a:pPr>
            <a:r>
              <a:rPr lang="en-US" sz="3000" spc="72">
                <a:solidFill>
                  <a:srgbClr val="FFFFFF"/>
                </a:solidFill>
                <a:latin typeface="League Spartan"/>
                <a:ea typeface="League Spartan"/>
                <a:cs typeface="League Spartan"/>
                <a:sym typeface="League Spartan"/>
              </a:rPr>
              <a:t>Nameserver Update</a:t>
            </a:r>
          </a:p>
        </p:txBody>
      </p:sp>
      <p:sp>
        <p:nvSpPr>
          <p:cNvPr id="13" name="TextBox 13"/>
          <p:cNvSpPr txBox="1"/>
          <p:nvPr/>
        </p:nvSpPr>
        <p:spPr>
          <a:xfrm>
            <a:off x="1354302" y="2647735"/>
            <a:ext cx="6650202" cy="1544319"/>
          </a:xfrm>
          <a:prstGeom prst="rect">
            <a:avLst/>
          </a:prstGeom>
        </p:spPr>
        <p:txBody>
          <a:bodyPr lIns="0" tIns="0" rIns="0" bIns="0" rtlCol="0" anchor="t">
            <a:spAutoFit/>
          </a:bodyPr>
          <a:lstStyle/>
          <a:p>
            <a:pPr algn="l">
              <a:lnSpc>
                <a:spcPts val="3080"/>
              </a:lnSpc>
            </a:pPr>
            <a:r>
              <a:rPr lang="en-US" sz="2200" spc="261">
                <a:solidFill>
                  <a:srgbClr val="FFFFFF"/>
                </a:solidFill>
                <a:latin typeface="Inter"/>
                <a:ea typeface="Inter"/>
                <a:cs typeface="Inter"/>
                <a:sym typeface="Inter"/>
              </a:rPr>
              <a:t>Replaced GoDaddy’s default nameservers with Cloudflare’s nameservers for advanced DNS management and enhanced security.</a:t>
            </a:r>
          </a:p>
        </p:txBody>
      </p:sp>
      <p:sp>
        <p:nvSpPr>
          <p:cNvPr id="14" name="Freeform 14"/>
          <p:cNvSpPr/>
          <p:nvPr/>
        </p:nvSpPr>
        <p:spPr>
          <a:xfrm rot="5400000">
            <a:off x="13014363" y="1895791"/>
            <a:ext cx="10287000" cy="5704609"/>
          </a:xfrm>
          <a:custGeom>
            <a:avLst/>
            <a:gdLst/>
            <a:ahLst/>
            <a:cxnLst/>
            <a:rect l="l" t="t" r="r" b="b"/>
            <a:pathLst>
              <a:path w="10287000" h="5704609">
                <a:moveTo>
                  <a:pt x="0" y="0"/>
                </a:moveTo>
                <a:lnTo>
                  <a:pt x="10287000" y="0"/>
                </a:lnTo>
                <a:lnTo>
                  <a:pt x="10287000" y="5704609"/>
                </a:lnTo>
                <a:lnTo>
                  <a:pt x="0" y="5704609"/>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en-CA"/>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78826" y="1498310"/>
            <a:ext cx="7590865" cy="3249786"/>
            <a:chOff x="0" y="0"/>
            <a:chExt cx="1999240" cy="855911"/>
          </a:xfrm>
        </p:grpSpPr>
        <p:sp>
          <p:nvSpPr>
            <p:cNvPr id="3" name="Freeform 3"/>
            <p:cNvSpPr/>
            <p:nvPr/>
          </p:nvSpPr>
          <p:spPr>
            <a:xfrm>
              <a:off x="0" y="0"/>
              <a:ext cx="1999240" cy="855911"/>
            </a:xfrm>
            <a:custGeom>
              <a:avLst/>
              <a:gdLst/>
              <a:ahLst/>
              <a:cxnLst/>
              <a:rect l="l" t="t" r="r" b="b"/>
              <a:pathLst>
                <a:path w="1999240" h="855911">
                  <a:moveTo>
                    <a:pt x="50995" y="0"/>
                  </a:moveTo>
                  <a:lnTo>
                    <a:pt x="1948245" y="0"/>
                  </a:lnTo>
                  <a:cubicBezTo>
                    <a:pt x="1961770" y="0"/>
                    <a:pt x="1974741" y="5373"/>
                    <a:pt x="1984304" y="14936"/>
                  </a:cubicBezTo>
                  <a:cubicBezTo>
                    <a:pt x="1993868" y="24499"/>
                    <a:pt x="1999240" y="37470"/>
                    <a:pt x="1999240" y="50995"/>
                  </a:cubicBezTo>
                  <a:lnTo>
                    <a:pt x="1999240" y="804916"/>
                  </a:lnTo>
                  <a:cubicBezTo>
                    <a:pt x="1999240" y="818440"/>
                    <a:pt x="1993868" y="831411"/>
                    <a:pt x="1984304" y="840975"/>
                  </a:cubicBezTo>
                  <a:cubicBezTo>
                    <a:pt x="1974741" y="850538"/>
                    <a:pt x="1961770" y="855911"/>
                    <a:pt x="1948245" y="855911"/>
                  </a:cubicBezTo>
                  <a:lnTo>
                    <a:pt x="50995" y="855911"/>
                  </a:lnTo>
                  <a:cubicBezTo>
                    <a:pt x="37470" y="855911"/>
                    <a:pt x="24499" y="850538"/>
                    <a:pt x="14936" y="840975"/>
                  </a:cubicBezTo>
                  <a:cubicBezTo>
                    <a:pt x="5373" y="831411"/>
                    <a:pt x="0" y="818440"/>
                    <a:pt x="0" y="804916"/>
                  </a:cubicBezTo>
                  <a:lnTo>
                    <a:pt x="0" y="50995"/>
                  </a:lnTo>
                  <a:cubicBezTo>
                    <a:pt x="0" y="37470"/>
                    <a:pt x="5373" y="24499"/>
                    <a:pt x="14936" y="14936"/>
                  </a:cubicBezTo>
                  <a:cubicBezTo>
                    <a:pt x="24499" y="5373"/>
                    <a:pt x="37470" y="0"/>
                    <a:pt x="50995" y="0"/>
                  </a:cubicBezTo>
                  <a:close/>
                </a:path>
              </a:pathLst>
            </a:custGeom>
            <a:solidFill>
              <a:srgbClr val="2B485F"/>
            </a:solidFill>
          </p:spPr>
          <p:txBody>
            <a:bodyPr/>
            <a:lstStyle/>
            <a:p>
              <a:endParaRPr lang="en-CA"/>
            </a:p>
          </p:txBody>
        </p:sp>
        <p:sp>
          <p:nvSpPr>
            <p:cNvPr id="4" name="TextBox 4"/>
            <p:cNvSpPr txBox="1"/>
            <p:nvPr/>
          </p:nvSpPr>
          <p:spPr>
            <a:xfrm>
              <a:off x="0" y="-66675"/>
              <a:ext cx="1999240" cy="922586"/>
            </a:xfrm>
            <a:prstGeom prst="rect">
              <a:avLst/>
            </a:prstGeom>
          </p:spPr>
          <p:txBody>
            <a:bodyPr lIns="50800" tIns="50800" rIns="50800" bIns="50800" rtlCol="0" anchor="ctr"/>
            <a:lstStyle/>
            <a:p>
              <a:pPr algn="ctr">
                <a:lnSpc>
                  <a:spcPts val="3640"/>
                </a:lnSpc>
              </a:pPr>
              <a:endParaRPr/>
            </a:p>
          </p:txBody>
        </p:sp>
      </p:grpSp>
      <p:grpSp>
        <p:nvGrpSpPr>
          <p:cNvPr id="5" name="Group 5"/>
          <p:cNvGrpSpPr/>
          <p:nvPr/>
        </p:nvGrpSpPr>
        <p:grpSpPr>
          <a:xfrm>
            <a:off x="878826" y="6008514"/>
            <a:ext cx="7590865" cy="3249786"/>
            <a:chOff x="0" y="0"/>
            <a:chExt cx="1999240" cy="855911"/>
          </a:xfrm>
        </p:grpSpPr>
        <p:sp>
          <p:nvSpPr>
            <p:cNvPr id="6" name="Freeform 6"/>
            <p:cNvSpPr/>
            <p:nvPr/>
          </p:nvSpPr>
          <p:spPr>
            <a:xfrm>
              <a:off x="0" y="0"/>
              <a:ext cx="1999240" cy="855911"/>
            </a:xfrm>
            <a:custGeom>
              <a:avLst/>
              <a:gdLst/>
              <a:ahLst/>
              <a:cxnLst/>
              <a:rect l="l" t="t" r="r" b="b"/>
              <a:pathLst>
                <a:path w="1999240" h="855911">
                  <a:moveTo>
                    <a:pt x="50995" y="0"/>
                  </a:moveTo>
                  <a:lnTo>
                    <a:pt x="1948245" y="0"/>
                  </a:lnTo>
                  <a:cubicBezTo>
                    <a:pt x="1961770" y="0"/>
                    <a:pt x="1974741" y="5373"/>
                    <a:pt x="1984304" y="14936"/>
                  </a:cubicBezTo>
                  <a:cubicBezTo>
                    <a:pt x="1993868" y="24499"/>
                    <a:pt x="1999240" y="37470"/>
                    <a:pt x="1999240" y="50995"/>
                  </a:cubicBezTo>
                  <a:lnTo>
                    <a:pt x="1999240" y="804916"/>
                  </a:lnTo>
                  <a:cubicBezTo>
                    <a:pt x="1999240" y="818440"/>
                    <a:pt x="1993868" y="831411"/>
                    <a:pt x="1984304" y="840975"/>
                  </a:cubicBezTo>
                  <a:cubicBezTo>
                    <a:pt x="1974741" y="850538"/>
                    <a:pt x="1961770" y="855911"/>
                    <a:pt x="1948245" y="855911"/>
                  </a:cubicBezTo>
                  <a:lnTo>
                    <a:pt x="50995" y="855911"/>
                  </a:lnTo>
                  <a:cubicBezTo>
                    <a:pt x="37470" y="855911"/>
                    <a:pt x="24499" y="850538"/>
                    <a:pt x="14936" y="840975"/>
                  </a:cubicBezTo>
                  <a:cubicBezTo>
                    <a:pt x="5373" y="831411"/>
                    <a:pt x="0" y="818440"/>
                    <a:pt x="0" y="804916"/>
                  </a:cubicBezTo>
                  <a:lnTo>
                    <a:pt x="0" y="50995"/>
                  </a:lnTo>
                  <a:cubicBezTo>
                    <a:pt x="0" y="37470"/>
                    <a:pt x="5373" y="24499"/>
                    <a:pt x="14936" y="14936"/>
                  </a:cubicBezTo>
                  <a:cubicBezTo>
                    <a:pt x="24499" y="5373"/>
                    <a:pt x="37470" y="0"/>
                    <a:pt x="50995" y="0"/>
                  </a:cubicBezTo>
                  <a:close/>
                </a:path>
              </a:pathLst>
            </a:custGeom>
            <a:solidFill>
              <a:srgbClr val="2B485F"/>
            </a:solidFill>
          </p:spPr>
          <p:txBody>
            <a:bodyPr/>
            <a:lstStyle/>
            <a:p>
              <a:endParaRPr lang="en-CA"/>
            </a:p>
          </p:txBody>
        </p:sp>
        <p:sp>
          <p:nvSpPr>
            <p:cNvPr id="7" name="TextBox 7"/>
            <p:cNvSpPr txBox="1"/>
            <p:nvPr/>
          </p:nvSpPr>
          <p:spPr>
            <a:xfrm>
              <a:off x="0" y="-66675"/>
              <a:ext cx="1999240" cy="922586"/>
            </a:xfrm>
            <a:prstGeom prst="rect">
              <a:avLst/>
            </a:prstGeom>
          </p:spPr>
          <p:txBody>
            <a:bodyPr lIns="50800" tIns="50800" rIns="50800" bIns="50800" rtlCol="0" anchor="ctr"/>
            <a:lstStyle/>
            <a:p>
              <a:pPr algn="ctr">
                <a:lnSpc>
                  <a:spcPts val="3640"/>
                </a:lnSpc>
              </a:pPr>
              <a:endParaRPr/>
            </a:p>
          </p:txBody>
        </p:sp>
      </p:grpSp>
      <p:grpSp>
        <p:nvGrpSpPr>
          <p:cNvPr id="8" name="Group 8"/>
          <p:cNvGrpSpPr/>
          <p:nvPr/>
        </p:nvGrpSpPr>
        <p:grpSpPr>
          <a:xfrm>
            <a:off x="9653925" y="0"/>
            <a:ext cx="14732382" cy="12193285"/>
            <a:chOff x="0" y="0"/>
            <a:chExt cx="606795" cy="502215"/>
          </a:xfrm>
        </p:grpSpPr>
        <p:sp>
          <p:nvSpPr>
            <p:cNvPr id="9" name="Freeform 9"/>
            <p:cNvSpPr/>
            <p:nvPr/>
          </p:nvSpPr>
          <p:spPr>
            <a:xfrm>
              <a:off x="0" y="0"/>
              <a:ext cx="606795" cy="502215"/>
            </a:xfrm>
            <a:custGeom>
              <a:avLst/>
              <a:gdLst/>
              <a:ahLst/>
              <a:cxnLst/>
              <a:rect l="l" t="t" r="r" b="b"/>
              <a:pathLst>
                <a:path w="606795" h="502215">
                  <a:moveTo>
                    <a:pt x="203200" y="0"/>
                  </a:moveTo>
                  <a:lnTo>
                    <a:pt x="606795" y="0"/>
                  </a:lnTo>
                  <a:lnTo>
                    <a:pt x="403595" y="502215"/>
                  </a:lnTo>
                  <a:lnTo>
                    <a:pt x="0" y="502215"/>
                  </a:lnTo>
                  <a:lnTo>
                    <a:pt x="203200" y="0"/>
                  </a:lnTo>
                  <a:close/>
                </a:path>
              </a:pathLst>
            </a:custGeom>
            <a:solidFill>
              <a:srgbClr val="2B485F"/>
            </a:solidFill>
          </p:spPr>
          <p:txBody>
            <a:bodyPr/>
            <a:lstStyle/>
            <a:p>
              <a:endParaRPr lang="en-CA"/>
            </a:p>
          </p:txBody>
        </p:sp>
        <p:sp>
          <p:nvSpPr>
            <p:cNvPr id="10" name="TextBox 10"/>
            <p:cNvSpPr txBox="1"/>
            <p:nvPr/>
          </p:nvSpPr>
          <p:spPr>
            <a:xfrm>
              <a:off x="101600" y="-66675"/>
              <a:ext cx="403595" cy="568890"/>
            </a:xfrm>
            <a:prstGeom prst="rect">
              <a:avLst/>
            </a:prstGeom>
          </p:spPr>
          <p:txBody>
            <a:bodyPr lIns="50800" tIns="50800" rIns="50800" bIns="50800" rtlCol="0" anchor="ctr"/>
            <a:lstStyle/>
            <a:p>
              <a:pPr algn="ctr">
                <a:lnSpc>
                  <a:spcPts val="3640"/>
                </a:lnSpc>
              </a:pPr>
              <a:endParaRPr/>
            </a:p>
          </p:txBody>
        </p:sp>
      </p:grpSp>
      <p:sp>
        <p:nvSpPr>
          <p:cNvPr id="11" name="Freeform 11"/>
          <p:cNvSpPr/>
          <p:nvPr/>
        </p:nvSpPr>
        <p:spPr>
          <a:xfrm>
            <a:off x="9144000" y="5075782"/>
            <a:ext cx="8896123" cy="4633362"/>
          </a:xfrm>
          <a:custGeom>
            <a:avLst/>
            <a:gdLst/>
            <a:ahLst/>
            <a:cxnLst/>
            <a:rect l="l" t="t" r="r" b="b"/>
            <a:pathLst>
              <a:path w="8896123" h="4633362">
                <a:moveTo>
                  <a:pt x="0" y="0"/>
                </a:moveTo>
                <a:lnTo>
                  <a:pt x="8896123" y="0"/>
                </a:lnTo>
                <a:lnTo>
                  <a:pt x="8896123" y="4633361"/>
                </a:lnTo>
                <a:lnTo>
                  <a:pt x="0" y="4633361"/>
                </a:lnTo>
                <a:lnTo>
                  <a:pt x="0" y="0"/>
                </a:lnTo>
                <a:close/>
              </a:path>
            </a:pathLst>
          </a:custGeom>
          <a:blipFill>
            <a:blip r:embed="rId2"/>
            <a:stretch>
              <a:fillRect l="-19137" b="-4365"/>
            </a:stretch>
          </a:blipFill>
        </p:spPr>
        <p:txBody>
          <a:bodyPr/>
          <a:lstStyle/>
          <a:p>
            <a:endParaRPr lang="en-CA"/>
          </a:p>
        </p:txBody>
      </p:sp>
      <p:sp>
        <p:nvSpPr>
          <p:cNvPr id="12" name="TextBox 12"/>
          <p:cNvSpPr txBox="1"/>
          <p:nvPr/>
        </p:nvSpPr>
        <p:spPr>
          <a:xfrm>
            <a:off x="1493888" y="6687616"/>
            <a:ext cx="4720328" cy="495300"/>
          </a:xfrm>
          <a:prstGeom prst="rect">
            <a:avLst/>
          </a:prstGeom>
        </p:spPr>
        <p:txBody>
          <a:bodyPr lIns="0" tIns="0" rIns="0" bIns="0" rtlCol="0" anchor="t">
            <a:spAutoFit/>
          </a:bodyPr>
          <a:lstStyle/>
          <a:p>
            <a:pPr algn="l">
              <a:lnSpc>
                <a:spcPts val="3900"/>
              </a:lnSpc>
            </a:pPr>
            <a:r>
              <a:rPr lang="en-US" sz="3000" spc="72">
                <a:solidFill>
                  <a:srgbClr val="FFFFFF"/>
                </a:solidFill>
                <a:latin typeface="League Spartan"/>
                <a:ea typeface="League Spartan"/>
                <a:cs typeface="League Spartan"/>
                <a:sym typeface="League Spartan"/>
              </a:rPr>
              <a:t>SSL/TLS Encryption</a:t>
            </a:r>
          </a:p>
        </p:txBody>
      </p:sp>
      <p:sp>
        <p:nvSpPr>
          <p:cNvPr id="13" name="TextBox 13"/>
          <p:cNvSpPr txBox="1"/>
          <p:nvPr/>
        </p:nvSpPr>
        <p:spPr>
          <a:xfrm>
            <a:off x="1504176" y="7354362"/>
            <a:ext cx="6650202" cy="1544319"/>
          </a:xfrm>
          <a:prstGeom prst="rect">
            <a:avLst/>
          </a:prstGeom>
        </p:spPr>
        <p:txBody>
          <a:bodyPr lIns="0" tIns="0" rIns="0" bIns="0" rtlCol="0" anchor="t">
            <a:spAutoFit/>
          </a:bodyPr>
          <a:lstStyle/>
          <a:p>
            <a:pPr algn="l">
              <a:lnSpc>
                <a:spcPts val="3080"/>
              </a:lnSpc>
            </a:pPr>
            <a:r>
              <a:rPr lang="en-US" sz="2200" spc="261">
                <a:solidFill>
                  <a:srgbClr val="FFFFFF"/>
                </a:solidFill>
                <a:latin typeface="Inter"/>
                <a:ea typeface="Inter"/>
                <a:cs typeface="Inter"/>
                <a:sym typeface="Inter"/>
              </a:rPr>
              <a:t>Configured Full (Strict) SSL/TLS mode for complete end-to-end encryption between the client, Cloudflare, and the origin server.</a:t>
            </a:r>
          </a:p>
        </p:txBody>
      </p:sp>
      <p:sp>
        <p:nvSpPr>
          <p:cNvPr id="14" name="TextBox 14"/>
          <p:cNvSpPr txBox="1"/>
          <p:nvPr/>
        </p:nvSpPr>
        <p:spPr>
          <a:xfrm>
            <a:off x="1344014" y="1980988"/>
            <a:ext cx="6810364" cy="990600"/>
          </a:xfrm>
          <a:prstGeom prst="rect">
            <a:avLst/>
          </a:prstGeom>
        </p:spPr>
        <p:txBody>
          <a:bodyPr lIns="0" tIns="0" rIns="0" bIns="0" rtlCol="0" anchor="t">
            <a:spAutoFit/>
          </a:bodyPr>
          <a:lstStyle/>
          <a:p>
            <a:pPr algn="l">
              <a:lnSpc>
                <a:spcPts val="3900"/>
              </a:lnSpc>
            </a:pPr>
            <a:r>
              <a:rPr lang="en-US" sz="3000" spc="72">
                <a:solidFill>
                  <a:srgbClr val="FFFFFF"/>
                </a:solidFill>
                <a:latin typeface="League Spartan"/>
                <a:ea typeface="League Spartan"/>
                <a:cs typeface="League Spartan"/>
                <a:sym typeface="League Spartan"/>
              </a:rPr>
              <a:t>A and CNAME Records Configuration</a:t>
            </a:r>
          </a:p>
        </p:txBody>
      </p:sp>
      <p:sp>
        <p:nvSpPr>
          <p:cNvPr id="15" name="TextBox 15"/>
          <p:cNvSpPr txBox="1"/>
          <p:nvPr/>
        </p:nvSpPr>
        <p:spPr>
          <a:xfrm>
            <a:off x="1424095" y="2933488"/>
            <a:ext cx="6650202" cy="2325369"/>
          </a:xfrm>
          <a:prstGeom prst="rect">
            <a:avLst/>
          </a:prstGeom>
        </p:spPr>
        <p:txBody>
          <a:bodyPr lIns="0" tIns="0" rIns="0" bIns="0" rtlCol="0" anchor="t">
            <a:spAutoFit/>
          </a:bodyPr>
          <a:lstStyle/>
          <a:p>
            <a:pPr algn="l">
              <a:lnSpc>
                <a:spcPts val="3080"/>
              </a:lnSpc>
            </a:pPr>
            <a:r>
              <a:rPr lang="en-US" sz="2200" spc="261">
                <a:solidFill>
                  <a:srgbClr val="FFFFFF"/>
                </a:solidFill>
                <a:latin typeface="Inter"/>
                <a:ea typeface="Inter"/>
                <a:cs typeface="Inter"/>
                <a:sym typeface="Inter"/>
              </a:rPr>
              <a:t>Configured A records to point to the server’s public IP and CNAME records for mapping subdomains securely through Cloudflare’s proxy.</a:t>
            </a:r>
          </a:p>
          <a:p>
            <a:pPr algn="l">
              <a:lnSpc>
                <a:spcPts val="3080"/>
              </a:lnSpc>
            </a:pPr>
            <a:endParaRPr lang="en-US" sz="2200" spc="261">
              <a:solidFill>
                <a:srgbClr val="FFFFFF"/>
              </a:solidFill>
              <a:latin typeface="Inter"/>
              <a:ea typeface="Inter"/>
              <a:cs typeface="Inter"/>
              <a:sym typeface="Inter"/>
            </a:endParaRPr>
          </a:p>
          <a:p>
            <a:pPr algn="l">
              <a:lnSpc>
                <a:spcPts val="3080"/>
              </a:lnSpc>
            </a:pPr>
            <a:endParaRPr lang="en-US" sz="2200" spc="261">
              <a:solidFill>
                <a:srgbClr val="FFFFFF"/>
              </a:solidFill>
              <a:latin typeface="Inter"/>
              <a:ea typeface="Inter"/>
              <a:cs typeface="Inter"/>
              <a:sym typeface="Inte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168574" y="3216575"/>
            <a:ext cx="10659839" cy="8286946"/>
            <a:chOff x="0" y="0"/>
            <a:chExt cx="2476027" cy="1924860"/>
          </a:xfrm>
        </p:grpSpPr>
        <p:sp>
          <p:nvSpPr>
            <p:cNvPr id="3" name="Freeform 3"/>
            <p:cNvSpPr/>
            <p:nvPr/>
          </p:nvSpPr>
          <p:spPr>
            <a:xfrm>
              <a:off x="0" y="0"/>
              <a:ext cx="2476027" cy="1924860"/>
            </a:xfrm>
            <a:custGeom>
              <a:avLst/>
              <a:gdLst/>
              <a:ahLst/>
              <a:cxnLst/>
              <a:rect l="l" t="t" r="r" b="b"/>
              <a:pathLst>
                <a:path w="2476027" h="1924860">
                  <a:moveTo>
                    <a:pt x="203200" y="0"/>
                  </a:moveTo>
                  <a:lnTo>
                    <a:pt x="2476027" y="0"/>
                  </a:lnTo>
                  <a:lnTo>
                    <a:pt x="2272827" y="1924860"/>
                  </a:lnTo>
                  <a:lnTo>
                    <a:pt x="0" y="1924860"/>
                  </a:lnTo>
                  <a:lnTo>
                    <a:pt x="203200" y="0"/>
                  </a:lnTo>
                  <a:close/>
                </a:path>
              </a:pathLst>
            </a:custGeom>
            <a:solidFill>
              <a:srgbClr val="365679"/>
            </a:solidFill>
          </p:spPr>
          <p:txBody>
            <a:bodyPr/>
            <a:lstStyle/>
            <a:p>
              <a:endParaRPr lang="en-CA"/>
            </a:p>
          </p:txBody>
        </p:sp>
        <p:sp>
          <p:nvSpPr>
            <p:cNvPr id="4" name="TextBox 4"/>
            <p:cNvSpPr txBox="1"/>
            <p:nvPr/>
          </p:nvSpPr>
          <p:spPr>
            <a:xfrm>
              <a:off x="101600" y="-66675"/>
              <a:ext cx="2272827" cy="1991535"/>
            </a:xfrm>
            <a:prstGeom prst="rect">
              <a:avLst/>
            </a:prstGeom>
          </p:spPr>
          <p:txBody>
            <a:bodyPr lIns="50800" tIns="50800" rIns="50800" bIns="50800" rtlCol="0" anchor="ctr"/>
            <a:lstStyle/>
            <a:p>
              <a:pPr algn="ctr">
                <a:lnSpc>
                  <a:spcPts val="3640"/>
                </a:lnSpc>
              </a:pPr>
              <a:endParaRPr/>
            </a:p>
          </p:txBody>
        </p:sp>
      </p:grpSp>
      <p:sp>
        <p:nvSpPr>
          <p:cNvPr id="5" name="TextBox 5"/>
          <p:cNvSpPr txBox="1"/>
          <p:nvPr/>
        </p:nvSpPr>
        <p:spPr>
          <a:xfrm>
            <a:off x="679303" y="803275"/>
            <a:ext cx="9175052" cy="2282825"/>
          </a:xfrm>
          <a:prstGeom prst="rect">
            <a:avLst/>
          </a:prstGeom>
        </p:spPr>
        <p:txBody>
          <a:bodyPr lIns="0" tIns="0" rIns="0" bIns="0" rtlCol="0" anchor="t">
            <a:spAutoFit/>
          </a:bodyPr>
          <a:lstStyle/>
          <a:p>
            <a:pPr algn="l">
              <a:lnSpc>
                <a:spcPts val="9099"/>
              </a:lnSpc>
            </a:pPr>
            <a:r>
              <a:rPr lang="en-US" sz="6999" spc="167">
                <a:solidFill>
                  <a:srgbClr val="365679"/>
                </a:solidFill>
                <a:latin typeface="League Spartan"/>
                <a:ea typeface="League Spartan"/>
                <a:cs typeface="League Spartan"/>
                <a:sym typeface="League Spartan"/>
              </a:rPr>
              <a:t>Cloudflare Zero Trust &amp; SSO</a:t>
            </a:r>
          </a:p>
        </p:txBody>
      </p:sp>
      <p:sp>
        <p:nvSpPr>
          <p:cNvPr id="6" name="TextBox 6"/>
          <p:cNvSpPr txBox="1"/>
          <p:nvPr/>
        </p:nvSpPr>
        <p:spPr>
          <a:xfrm>
            <a:off x="9317066" y="1920875"/>
            <a:ext cx="7942234" cy="6665306"/>
          </a:xfrm>
          <a:prstGeom prst="rect">
            <a:avLst/>
          </a:prstGeom>
        </p:spPr>
        <p:txBody>
          <a:bodyPr lIns="0" tIns="0" rIns="0" bIns="0" rtlCol="0" anchor="t">
            <a:spAutoFit/>
          </a:bodyPr>
          <a:lstStyle/>
          <a:p>
            <a:pPr algn="l">
              <a:lnSpc>
                <a:spcPts val="3270"/>
              </a:lnSpc>
            </a:pPr>
            <a:r>
              <a:rPr lang="en-US" sz="2336" b="1" spc="278">
                <a:solidFill>
                  <a:srgbClr val="000000"/>
                </a:solidFill>
                <a:latin typeface="Cloud Bold"/>
                <a:ea typeface="Cloud Bold"/>
                <a:cs typeface="Cloud Bold"/>
                <a:sym typeface="Cloud Bold"/>
              </a:rPr>
              <a:t>Our Expertise:</a:t>
            </a:r>
          </a:p>
          <a:p>
            <a:pPr algn="l">
              <a:lnSpc>
                <a:spcPts val="3690"/>
              </a:lnSpc>
            </a:pPr>
            <a:endParaRPr lang="en-US" sz="2336" b="1" spc="278">
              <a:solidFill>
                <a:srgbClr val="000000"/>
              </a:solidFill>
              <a:latin typeface="Cloud Bold"/>
              <a:ea typeface="Cloud Bold"/>
              <a:cs typeface="Cloud Bold"/>
              <a:sym typeface="Cloud Bold"/>
            </a:endParaRPr>
          </a:p>
          <a:p>
            <a:pPr marL="504421" lvl="1" indent="-252210" algn="l">
              <a:lnSpc>
                <a:spcPts val="3270"/>
              </a:lnSpc>
              <a:buAutoNum type="arabicPeriod"/>
            </a:pPr>
            <a:r>
              <a:rPr lang="en-US" sz="2336" spc="278">
                <a:solidFill>
                  <a:srgbClr val="000000"/>
                </a:solidFill>
                <a:latin typeface="Cloud"/>
                <a:ea typeface="Cloud"/>
                <a:cs typeface="Cloud"/>
                <a:sym typeface="Cloud"/>
              </a:rPr>
              <a:t>Cloudflare Tunnel Configuration:</a:t>
            </a:r>
          </a:p>
          <a:p>
            <a:pPr marL="1008841" lvl="2" indent="-336280" algn="l">
              <a:lnSpc>
                <a:spcPts val="3270"/>
              </a:lnSpc>
              <a:buFont typeface="Arial"/>
              <a:buChar char="⚬"/>
            </a:pPr>
            <a:r>
              <a:rPr lang="en-US" sz="2336" spc="278">
                <a:solidFill>
                  <a:srgbClr val="000000"/>
                </a:solidFill>
                <a:latin typeface="Cloud"/>
                <a:ea typeface="Cloud"/>
                <a:cs typeface="Cloud"/>
                <a:sym typeface="Cloud"/>
              </a:rPr>
              <a:t>Set up Cloudflare Tunnel to securely route traffic between Cloudflare and the origin server, masking the server’s public IP and protecting it from direct attacks.</a:t>
            </a:r>
          </a:p>
          <a:p>
            <a:pPr algn="l">
              <a:lnSpc>
                <a:spcPts val="3270"/>
              </a:lnSpc>
            </a:pPr>
            <a:endParaRPr lang="en-US" sz="2336" spc="278">
              <a:solidFill>
                <a:srgbClr val="000000"/>
              </a:solidFill>
              <a:latin typeface="Cloud"/>
              <a:ea typeface="Cloud"/>
              <a:cs typeface="Cloud"/>
              <a:sym typeface="Cloud"/>
            </a:endParaRPr>
          </a:p>
          <a:p>
            <a:pPr algn="l">
              <a:lnSpc>
                <a:spcPts val="3270"/>
              </a:lnSpc>
            </a:pPr>
            <a:r>
              <a:rPr lang="en-US" sz="2336" spc="278">
                <a:solidFill>
                  <a:srgbClr val="000000"/>
                </a:solidFill>
                <a:latin typeface="Cloud"/>
                <a:ea typeface="Cloud"/>
                <a:cs typeface="Cloud"/>
                <a:sym typeface="Cloud"/>
              </a:rPr>
              <a:t>  2.Single Sign-On (SSO) Integration:</a:t>
            </a:r>
          </a:p>
          <a:p>
            <a:pPr marL="1008841" lvl="2" indent="-336280" algn="l">
              <a:lnSpc>
                <a:spcPts val="3270"/>
              </a:lnSpc>
              <a:buFont typeface="Arial"/>
              <a:buChar char="⚬"/>
            </a:pPr>
            <a:r>
              <a:rPr lang="en-US" sz="2336" spc="278">
                <a:solidFill>
                  <a:srgbClr val="000000"/>
                </a:solidFill>
                <a:latin typeface="Cloud"/>
                <a:ea typeface="Cloud"/>
                <a:cs typeface="Cloud"/>
                <a:sym typeface="Cloud"/>
              </a:rPr>
              <a:t>Implemented SSO with GitHub as the Identity Provider (IdP) to enable secure and seamless authentication.</a:t>
            </a:r>
          </a:p>
          <a:p>
            <a:pPr marL="1052020" lvl="2" indent="-350673" algn="l">
              <a:lnSpc>
                <a:spcPts val="3410"/>
              </a:lnSpc>
              <a:buFont typeface="Arial"/>
              <a:buChar char="⚬"/>
            </a:pPr>
            <a:r>
              <a:rPr lang="en-US" sz="2436" spc="289">
                <a:solidFill>
                  <a:srgbClr val="000000"/>
                </a:solidFill>
                <a:latin typeface="Cloud"/>
                <a:ea typeface="Cloud"/>
                <a:cs typeface="Cloud"/>
                <a:sym typeface="Cloud"/>
              </a:rPr>
              <a:t>Configured role-based access control to restrict access based on user roles and email domains.</a:t>
            </a:r>
          </a:p>
          <a:p>
            <a:pPr algn="l">
              <a:lnSpc>
                <a:spcPts val="3270"/>
              </a:lnSpc>
            </a:pPr>
            <a:endParaRPr lang="en-US" sz="2436" spc="289">
              <a:solidFill>
                <a:srgbClr val="000000"/>
              </a:solidFill>
              <a:latin typeface="Cloud"/>
              <a:ea typeface="Cloud"/>
              <a:cs typeface="Cloud"/>
              <a:sym typeface="Cloud"/>
            </a:endParaRPr>
          </a:p>
        </p:txBody>
      </p:sp>
      <p:grpSp>
        <p:nvGrpSpPr>
          <p:cNvPr id="7" name="Group 7"/>
          <p:cNvGrpSpPr/>
          <p:nvPr/>
        </p:nvGrpSpPr>
        <p:grpSpPr>
          <a:xfrm rot="9902075">
            <a:off x="16639813" y="-861230"/>
            <a:ext cx="3620223" cy="3167695"/>
            <a:chOff x="0" y="0"/>
            <a:chExt cx="812800" cy="711200"/>
          </a:xfrm>
        </p:grpSpPr>
        <p:sp>
          <p:nvSpPr>
            <p:cNvPr id="8" name="Freeform 8"/>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365679"/>
            </a:solidFill>
          </p:spPr>
          <p:txBody>
            <a:bodyPr/>
            <a:lstStyle/>
            <a:p>
              <a:endParaRPr lang="en-CA"/>
            </a:p>
          </p:txBody>
        </p:sp>
        <p:sp>
          <p:nvSpPr>
            <p:cNvPr id="9" name="TextBox 9"/>
            <p:cNvSpPr txBox="1"/>
            <p:nvPr/>
          </p:nvSpPr>
          <p:spPr>
            <a:xfrm>
              <a:off x="127000" y="263525"/>
              <a:ext cx="558800" cy="396875"/>
            </a:xfrm>
            <a:prstGeom prst="rect">
              <a:avLst/>
            </a:prstGeom>
          </p:spPr>
          <p:txBody>
            <a:bodyPr lIns="50800" tIns="50800" rIns="50800" bIns="50800" rtlCol="0" anchor="ctr"/>
            <a:lstStyle/>
            <a:p>
              <a:pPr algn="ctr">
                <a:lnSpc>
                  <a:spcPts val="3640"/>
                </a:lnSpc>
              </a:pPr>
              <a:endParaRPr/>
            </a:p>
          </p:txBody>
        </p:sp>
      </p:grpSp>
      <p:sp>
        <p:nvSpPr>
          <p:cNvPr id="11" name="Freeform 11"/>
          <p:cNvSpPr/>
          <p:nvPr/>
        </p:nvSpPr>
        <p:spPr>
          <a:xfrm>
            <a:off x="64331" y="4044397"/>
            <a:ext cx="8932925" cy="5075251"/>
          </a:xfrm>
          <a:custGeom>
            <a:avLst/>
            <a:gdLst/>
            <a:ahLst/>
            <a:cxnLst/>
            <a:rect l="l" t="t" r="r" b="b"/>
            <a:pathLst>
              <a:path w="8932925" h="5075251">
                <a:moveTo>
                  <a:pt x="0" y="0"/>
                </a:moveTo>
                <a:lnTo>
                  <a:pt x="8932924" y="0"/>
                </a:lnTo>
                <a:lnTo>
                  <a:pt x="8932924" y="5075251"/>
                </a:lnTo>
                <a:lnTo>
                  <a:pt x="0" y="5075251"/>
                </a:lnTo>
                <a:lnTo>
                  <a:pt x="0" y="0"/>
                </a:lnTo>
                <a:close/>
              </a:path>
            </a:pathLst>
          </a:custGeom>
          <a:blipFill>
            <a:blip r:embed="rId2"/>
            <a:stretch>
              <a:fillRect/>
            </a:stretch>
          </a:blipFill>
        </p:spPr>
        <p:txBody>
          <a:bodyPr/>
          <a:lstStyle/>
          <a:p>
            <a:endParaRPr lang="en-CA"/>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flipV="1">
            <a:off x="15177010" y="-1253949"/>
            <a:ext cx="2720897" cy="5228794"/>
          </a:xfrm>
          <a:custGeom>
            <a:avLst/>
            <a:gdLst/>
            <a:ahLst/>
            <a:cxnLst/>
            <a:rect l="l" t="t" r="r" b="b"/>
            <a:pathLst>
              <a:path w="2720897" h="5228794">
                <a:moveTo>
                  <a:pt x="0" y="5228795"/>
                </a:moveTo>
                <a:lnTo>
                  <a:pt x="2720897" y="5228795"/>
                </a:lnTo>
                <a:lnTo>
                  <a:pt x="2720897" y="0"/>
                </a:lnTo>
                <a:lnTo>
                  <a:pt x="0" y="0"/>
                </a:lnTo>
                <a:lnTo>
                  <a:pt x="0" y="5228795"/>
                </a:lnTo>
                <a:close/>
              </a:path>
            </a:pathLst>
          </a:custGeom>
          <a:blipFill>
            <a:blip r:embed="rId2"/>
            <a:stretch>
              <a:fillRect/>
            </a:stretch>
          </a:blipFill>
        </p:spPr>
        <p:txBody>
          <a:bodyPr/>
          <a:lstStyle/>
          <a:p>
            <a:endParaRPr lang="en-CA"/>
          </a:p>
        </p:txBody>
      </p:sp>
      <p:sp>
        <p:nvSpPr>
          <p:cNvPr id="3" name="TextBox 3"/>
          <p:cNvSpPr txBox="1"/>
          <p:nvPr/>
        </p:nvSpPr>
        <p:spPr>
          <a:xfrm>
            <a:off x="1750541" y="2012911"/>
            <a:ext cx="14786917" cy="1135783"/>
          </a:xfrm>
          <a:prstGeom prst="rect">
            <a:avLst/>
          </a:prstGeom>
        </p:spPr>
        <p:txBody>
          <a:bodyPr lIns="0" tIns="0" rIns="0" bIns="0" rtlCol="0" anchor="t">
            <a:spAutoFit/>
          </a:bodyPr>
          <a:lstStyle/>
          <a:p>
            <a:pPr algn="ctr">
              <a:lnSpc>
                <a:spcPts val="8655"/>
              </a:lnSpc>
            </a:pPr>
            <a:r>
              <a:rPr lang="en-US" sz="8165" spc="195">
                <a:solidFill>
                  <a:srgbClr val="598196"/>
                </a:solidFill>
                <a:latin typeface="League Spartan"/>
                <a:ea typeface="League Spartan"/>
                <a:cs typeface="League Spartan"/>
                <a:sym typeface="League Spartan"/>
              </a:rPr>
              <a:t>ADVANCED SECURITY</a:t>
            </a:r>
          </a:p>
        </p:txBody>
      </p:sp>
      <p:sp>
        <p:nvSpPr>
          <p:cNvPr id="4" name="Freeform 4"/>
          <p:cNvSpPr/>
          <p:nvPr/>
        </p:nvSpPr>
        <p:spPr>
          <a:xfrm rot="-5400000">
            <a:off x="390093" y="-1471468"/>
            <a:ext cx="2720897" cy="5228794"/>
          </a:xfrm>
          <a:custGeom>
            <a:avLst/>
            <a:gdLst/>
            <a:ahLst/>
            <a:cxnLst/>
            <a:rect l="l" t="t" r="r" b="b"/>
            <a:pathLst>
              <a:path w="2720897" h="5228794">
                <a:moveTo>
                  <a:pt x="0" y="0"/>
                </a:moveTo>
                <a:lnTo>
                  <a:pt x="2720897" y="0"/>
                </a:lnTo>
                <a:lnTo>
                  <a:pt x="2720897" y="5228794"/>
                </a:lnTo>
                <a:lnTo>
                  <a:pt x="0" y="5228794"/>
                </a:lnTo>
                <a:lnTo>
                  <a:pt x="0" y="0"/>
                </a:lnTo>
                <a:close/>
              </a:path>
            </a:pathLst>
          </a:custGeom>
          <a:blipFill>
            <a:blip r:embed="rId2"/>
            <a:stretch>
              <a:fillRect/>
            </a:stretch>
          </a:blipFill>
        </p:spPr>
        <p:txBody>
          <a:bodyPr/>
          <a:lstStyle/>
          <a:p>
            <a:endParaRPr lang="en-CA"/>
          </a:p>
        </p:txBody>
      </p:sp>
      <p:grpSp>
        <p:nvGrpSpPr>
          <p:cNvPr id="5" name="Group 5"/>
          <p:cNvGrpSpPr/>
          <p:nvPr/>
        </p:nvGrpSpPr>
        <p:grpSpPr>
          <a:xfrm>
            <a:off x="1378345" y="4597248"/>
            <a:ext cx="4920028" cy="7484343"/>
            <a:chOff x="0" y="0"/>
            <a:chExt cx="1295810" cy="1971185"/>
          </a:xfrm>
        </p:grpSpPr>
        <p:sp>
          <p:nvSpPr>
            <p:cNvPr id="6" name="Freeform 6"/>
            <p:cNvSpPr/>
            <p:nvPr/>
          </p:nvSpPr>
          <p:spPr>
            <a:xfrm>
              <a:off x="0" y="0"/>
              <a:ext cx="1295810" cy="1971185"/>
            </a:xfrm>
            <a:custGeom>
              <a:avLst/>
              <a:gdLst/>
              <a:ahLst/>
              <a:cxnLst/>
              <a:rect l="l" t="t" r="r" b="b"/>
              <a:pathLst>
                <a:path w="1295810" h="1971185">
                  <a:moveTo>
                    <a:pt x="0" y="0"/>
                  </a:moveTo>
                  <a:lnTo>
                    <a:pt x="1295810" y="0"/>
                  </a:lnTo>
                  <a:lnTo>
                    <a:pt x="1295810" y="1971185"/>
                  </a:lnTo>
                  <a:lnTo>
                    <a:pt x="0" y="1971185"/>
                  </a:lnTo>
                  <a:close/>
                </a:path>
              </a:pathLst>
            </a:custGeom>
            <a:solidFill>
              <a:srgbClr val="2B485F"/>
            </a:solidFill>
          </p:spPr>
          <p:txBody>
            <a:bodyPr/>
            <a:lstStyle/>
            <a:p>
              <a:endParaRPr lang="en-CA"/>
            </a:p>
          </p:txBody>
        </p:sp>
        <p:sp>
          <p:nvSpPr>
            <p:cNvPr id="7" name="TextBox 7"/>
            <p:cNvSpPr txBox="1"/>
            <p:nvPr/>
          </p:nvSpPr>
          <p:spPr>
            <a:xfrm>
              <a:off x="0" y="-47625"/>
              <a:ext cx="1295810" cy="2018810"/>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6683986" y="4597248"/>
            <a:ext cx="4920028" cy="7480143"/>
            <a:chOff x="0" y="0"/>
            <a:chExt cx="1295810" cy="1970079"/>
          </a:xfrm>
        </p:grpSpPr>
        <p:sp>
          <p:nvSpPr>
            <p:cNvPr id="9" name="Freeform 9"/>
            <p:cNvSpPr/>
            <p:nvPr/>
          </p:nvSpPr>
          <p:spPr>
            <a:xfrm>
              <a:off x="0" y="0"/>
              <a:ext cx="1295810" cy="1970079"/>
            </a:xfrm>
            <a:custGeom>
              <a:avLst/>
              <a:gdLst/>
              <a:ahLst/>
              <a:cxnLst/>
              <a:rect l="l" t="t" r="r" b="b"/>
              <a:pathLst>
                <a:path w="1295810" h="1970079">
                  <a:moveTo>
                    <a:pt x="0" y="0"/>
                  </a:moveTo>
                  <a:lnTo>
                    <a:pt x="1295810" y="0"/>
                  </a:lnTo>
                  <a:lnTo>
                    <a:pt x="1295810" y="1970079"/>
                  </a:lnTo>
                  <a:lnTo>
                    <a:pt x="0" y="1970079"/>
                  </a:lnTo>
                  <a:close/>
                </a:path>
              </a:pathLst>
            </a:custGeom>
            <a:solidFill>
              <a:srgbClr val="2B485F"/>
            </a:solidFill>
          </p:spPr>
          <p:txBody>
            <a:bodyPr/>
            <a:lstStyle/>
            <a:p>
              <a:endParaRPr lang="en-CA"/>
            </a:p>
          </p:txBody>
        </p:sp>
        <p:sp>
          <p:nvSpPr>
            <p:cNvPr id="10" name="TextBox 10"/>
            <p:cNvSpPr txBox="1"/>
            <p:nvPr/>
          </p:nvSpPr>
          <p:spPr>
            <a:xfrm>
              <a:off x="0" y="-47625"/>
              <a:ext cx="1295810" cy="2017704"/>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11989628" y="4597248"/>
            <a:ext cx="4920028" cy="7475943"/>
            <a:chOff x="0" y="0"/>
            <a:chExt cx="1295810" cy="1968973"/>
          </a:xfrm>
        </p:grpSpPr>
        <p:sp>
          <p:nvSpPr>
            <p:cNvPr id="12" name="Freeform 12"/>
            <p:cNvSpPr/>
            <p:nvPr/>
          </p:nvSpPr>
          <p:spPr>
            <a:xfrm>
              <a:off x="0" y="0"/>
              <a:ext cx="1295810" cy="1968973"/>
            </a:xfrm>
            <a:custGeom>
              <a:avLst/>
              <a:gdLst/>
              <a:ahLst/>
              <a:cxnLst/>
              <a:rect l="l" t="t" r="r" b="b"/>
              <a:pathLst>
                <a:path w="1295810" h="1968973">
                  <a:moveTo>
                    <a:pt x="0" y="0"/>
                  </a:moveTo>
                  <a:lnTo>
                    <a:pt x="1295810" y="0"/>
                  </a:lnTo>
                  <a:lnTo>
                    <a:pt x="1295810" y="1968973"/>
                  </a:lnTo>
                  <a:lnTo>
                    <a:pt x="0" y="1968973"/>
                  </a:lnTo>
                  <a:close/>
                </a:path>
              </a:pathLst>
            </a:custGeom>
            <a:solidFill>
              <a:srgbClr val="2B485F"/>
            </a:solidFill>
          </p:spPr>
          <p:txBody>
            <a:bodyPr/>
            <a:lstStyle/>
            <a:p>
              <a:endParaRPr lang="en-CA"/>
            </a:p>
          </p:txBody>
        </p:sp>
        <p:sp>
          <p:nvSpPr>
            <p:cNvPr id="13" name="TextBox 13"/>
            <p:cNvSpPr txBox="1"/>
            <p:nvPr/>
          </p:nvSpPr>
          <p:spPr>
            <a:xfrm>
              <a:off x="0" y="-47625"/>
              <a:ext cx="1295810" cy="2016598"/>
            </a:xfrm>
            <a:prstGeom prst="rect">
              <a:avLst/>
            </a:prstGeom>
          </p:spPr>
          <p:txBody>
            <a:bodyPr lIns="50800" tIns="50800" rIns="50800" bIns="50800" rtlCol="0" anchor="ctr"/>
            <a:lstStyle/>
            <a:p>
              <a:pPr algn="ctr">
                <a:lnSpc>
                  <a:spcPts val="2659"/>
                </a:lnSpc>
              </a:pPr>
              <a:endParaRPr/>
            </a:p>
          </p:txBody>
        </p:sp>
      </p:grpSp>
      <p:sp>
        <p:nvSpPr>
          <p:cNvPr id="14" name="Freeform 14"/>
          <p:cNvSpPr/>
          <p:nvPr/>
        </p:nvSpPr>
        <p:spPr>
          <a:xfrm>
            <a:off x="-198138" y="565650"/>
            <a:ext cx="3152965" cy="3152965"/>
          </a:xfrm>
          <a:custGeom>
            <a:avLst/>
            <a:gdLst/>
            <a:ahLst/>
            <a:cxnLst/>
            <a:rect l="l" t="t" r="r" b="b"/>
            <a:pathLst>
              <a:path w="3152965" h="3152965">
                <a:moveTo>
                  <a:pt x="0" y="0"/>
                </a:moveTo>
                <a:lnTo>
                  <a:pt x="3152965" y="0"/>
                </a:lnTo>
                <a:lnTo>
                  <a:pt x="3152965" y="3152965"/>
                </a:lnTo>
                <a:lnTo>
                  <a:pt x="0" y="3152965"/>
                </a:lnTo>
                <a:lnTo>
                  <a:pt x="0" y="0"/>
                </a:lnTo>
                <a:close/>
              </a:path>
            </a:pathLst>
          </a:custGeom>
          <a:blipFill>
            <a:blip r:embed="rId3"/>
            <a:stretch>
              <a:fillRect/>
            </a:stretch>
          </a:blipFill>
        </p:spPr>
        <p:txBody>
          <a:bodyPr/>
          <a:lstStyle/>
          <a:p>
            <a:endParaRPr lang="en-CA"/>
          </a:p>
        </p:txBody>
      </p:sp>
      <p:sp>
        <p:nvSpPr>
          <p:cNvPr id="15" name="TextBox 15"/>
          <p:cNvSpPr txBox="1"/>
          <p:nvPr/>
        </p:nvSpPr>
        <p:spPr>
          <a:xfrm>
            <a:off x="1750541" y="5737522"/>
            <a:ext cx="3984794" cy="502755"/>
          </a:xfrm>
          <a:prstGeom prst="rect">
            <a:avLst/>
          </a:prstGeom>
        </p:spPr>
        <p:txBody>
          <a:bodyPr lIns="0" tIns="0" rIns="0" bIns="0" rtlCol="0" anchor="t">
            <a:spAutoFit/>
          </a:bodyPr>
          <a:lstStyle/>
          <a:p>
            <a:pPr algn="ctr">
              <a:lnSpc>
                <a:spcPts val="3851"/>
              </a:lnSpc>
            </a:pPr>
            <a:r>
              <a:rPr lang="en-US" sz="3633" spc="87">
                <a:solidFill>
                  <a:srgbClr val="FFFFFF"/>
                </a:solidFill>
                <a:latin typeface="League Spartan"/>
                <a:ea typeface="League Spartan"/>
                <a:cs typeface="League Spartan"/>
                <a:sym typeface="League Spartan"/>
              </a:rPr>
              <a:t>DNSSEC</a:t>
            </a:r>
          </a:p>
        </p:txBody>
      </p:sp>
      <p:sp>
        <p:nvSpPr>
          <p:cNvPr id="16" name="TextBox 16"/>
          <p:cNvSpPr txBox="1"/>
          <p:nvPr/>
        </p:nvSpPr>
        <p:spPr>
          <a:xfrm>
            <a:off x="7151603" y="5494635"/>
            <a:ext cx="3984794" cy="988530"/>
          </a:xfrm>
          <a:prstGeom prst="rect">
            <a:avLst/>
          </a:prstGeom>
        </p:spPr>
        <p:txBody>
          <a:bodyPr lIns="0" tIns="0" rIns="0" bIns="0" rtlCol="0" anchor="t">
            <a:spAutoFit/>
          </a:bodyPr>
          <a:lstStyle/>
          <a:p>
            <a:pPr algn="ctr">
              <a:lnSpc>
                <a:spcPts val="3851"/>
              </a:lnSpc>
            </a:pPr>
            <a:r>
              <a:rPr lang="en-US" sz="3633" spc="87">
                <a:solidFill>
                  <a:srgbClr val="FFFFFF"/>
                </a:solidFill>
                <a:latin typeface="League Spartan"/>
                <a:ea typeface="League Spartan"/>
                <a:cs typeface="League Spartan"/>
                <a:sym typeface="League Spartan"/>
              </a:rPr>
              <a:t>SSL/TLS Encryption</a:t>
            </a:r>
          </a:p>
        </p:txBody>
      </p:sp>
      <p:sp>
        <p:nvSpPr>
          <p:cNvPr id="17" name="TextBox 17"/>
          <p:cNvSpPr txBox="1"/>
          <p:nvPr/>
        </p:nvSpPr>
        <p:spPr>
          <a:xfrm>
            <a:off x="12121745" y="5737522"/>
            <a:ext cx="4920028" cy="502755"/>
          </a:xfrm>
          <a:prstGeom prst="rect">
            <a:avLst/>
          </a:prstGeom>
        </p:spPr>
        <p:txBody>
          <a:bodyPr lIns="0" tIns="0" rIns="0" bIns="0" rtlCol="0" anchor="t">
            <a:spAutoFit/>
          </a:bodyPr>
          <a:lstStyle/>
          <a:p>
            <a:pPr algn="ctr">
              <a:lnSpc>
                <a:spcPts val="3851"/>
              </a:lnSpc>
            </a:pPr>
            <a:r>
              <a:rPr lang="en-US" sz="3633" spc="87">
                <a:solidFill>
                  <a:srgbClr val="FFFFFF"/>
                </a:solidFill>
                <a:latin typeface="League Spartan"/>
                <a:ea typeface="League Spartan"/>
                <a:cs typeface="League Spartan"/>
                <a:sym typeface="League Spartan"/>
              </a:rPr>
              <a:t>Outcome</a:t>
            </a:r>
          </a:p>
        </p:txBody>
      </p:sp>
      <p:sp>
        <p:nvSpPr>
          <p:cNvPr id="18" name="TextBox 18"/>
          <p:cNvSpPr txBox="1"/>
          <p:nvPr/>
        </p:nvSpPr>
        <p:spPr>
          <a:xfrm>
            <a:off x="1701108" y="6739050"/>
            <a:ext cx="4083661" cy="3252915"/>
          </a:xfrm>
          <a:prstGeom prst="rect">
            <a:avLst/>
          </a:prstGeom>
        </p:spPr>
        <p:txBody>
          <a:bodyPr lIns="0" tIns="0" rIns="0" bIns="0" rtlCol="0" anchor="t">
            <a:spAutoFit/>
          </a:bodyPr>
          <a:lstStyle/>
          <a:p>
            <a:pPr marL="444212" lvl="1" indent="-222106" algn="ctr">
              <a:lnSpc>
                <a:spcPts val="2880"/>
              </a:lnSpc>
              <a:buFont typeface="Arial"/>
              <a:buChar char="•"/>
            </a:pPr>
            <a:r>
              <a:rPr lang="en-US" sz="2057" spc="244">
                <a:solidFill>
                  <a:srgbClr val="FFFFFF"/>
                </a:solidFill>
                <a:latin typeface="Cloud"/>
                <a:ea typeface="Cloud"/>
                <a:cs typeface="Cloud"/>
                <a:sym typeface="Cloud"/>
              </a:rPr>
              <a:t>Enabled cryptographic signing of DNS records to protect against DNS spoofing and tampering.</a:t>
            </a:r>
          </a:p>
          <a:p>
            <a:pPr algn="ctr">
              <a:lnSpc>
                <a:spcPts val="2880"/>
              </a:lnSpc>
            </a:pPr>
            <a:endParaRPr lang="en-US" sz="2057" spc="244">
              <a:solidFill>
                <a:srgbClr val="FFFFFF"/>
              </a:solidFill>
              <a:latin typeface="Cloud"/>
              <a:ea typeface="Cloud"/>
              <a:cs typeface="Cloud"/>
              <a:sym typeface="Cloud"/>
            </a:endParaRPr>
          </a:p>
          <a:p>
            <a:pPr marL="444212" lvl="1" indent="-222106" algn="ctr">
              <a:lnSpc>
                <a:spcPts val="2880"/>
              </a:lnSpc>
              <a:buFont typeface="Arial"/>
              <a:buChar char="•"/>
            </a:pPr>
            <a:r>
              <a:rPr lang="en-US" sz="2057" spc="244">
                <a:solidFill>
                  <a:srgbClr val="FFFFFF"/>
                </a:solidFill>
                <a:latin typeface="Cloud"/>
                <a:ea typeface="Cloud"/>
                <a:cs typeface="Cloud"/>
                <a:sym typeface="Cloud"/>
              </a:rPr>
              <a:t>Ensures that users are always directed to the legitimate origin server.</a:t>
            </a:r>
          </a:p>
          <a:p>
            <a:pPr algn="ctr">
              <a:lnSpc>
                <a:spcPts val="2880"/>
              </a:lnSpc>
              <a:spcBef>
                <a:spcPct val="0"/>
              </a:spcBef>
            </a:pPr>
            <a:endParaRPr lang="en-US" sz="2057" spc="244">
              <a:solidFill>
                <a:srgbClr val="FFFFFF"/>
              </a:solidFill>
              <a:latin typeface="Cloud"/>
              <a:ea typeface="Cloud"/>
              <a:cs typeface="Cloud"/>
              <a:sym typeface="Cloud"/>
            </a:endParaRPr>
          </a:p>
        </p:txBody>
      </p:sp>
      <p:sp>
        <p:nvSpPr>
          <p:cNvPr id="19" name="TextBox 19"/>
          <p:cNvSpPr txBox="1"/>
          <p:nvPr/>
        </p:nvSpPr>
        <p:spPr>
          <a:xfrm>
            <a:off x="7151603" y="6729525"/>
            <a:ext cx="4083661" cy="3545015"/>
          </a:xfrm>
          <a:prstGeom prst="rect">
            <a:avLst/>
          </a:prstGeom>
        </p:spPr>
        <p:txBody>
          <a:bodyPr lIns="0" tIns="0" rIns="0" bIns="0" rtlCol="0" anchor="t">
            <a:spAutoFit/>
          </a:bodyPr>
          <a:lstStyle/>
          <a:p>
            <a:pPr marL="401033" lvl="1" indent="-200517" algn="ctr">
              <a:lnSpc>
                <a:spcPts val="2600"/>
              </a:lnSpc>
              <a:buFont typeface="Arial"/>
              <a:buChar char="•"/>
            </a:pPr>
            <a:r>
              <a:rPr lang="en-US" sz="1857" spc="221">
                <a:solidFill>
                  <a:srgbClr val="FFFFFF"/>
                </a:solidFill>
                <a:latin typeface="Cloud"/>
                <a:ea typeface="Cloud"/>
                <a:cs typeface="Cloud"/>
                <a:sym typeface="Cloud"/>
              </a:rPr>
              <a:t>Configured Full (Strict) SSL/TLS mode to secure all communication between the client, Cloudflare, and the origin server.</a:t>
            </a:r>
          </a:p>
          <a:p>
            <a:pPr algn="ctr">
              <a:lnSpc>
                <a:spcPts val="2600"/>
              </a:lnSpc>
            </a:pPr>
            <a:endParaRPr lang="en-US" sz="1857" spc="221">
              <a:solidFill>
                <a:srgbClr val="FFFFFF"/>
              </a:solidFill>
              <a:latin typeface="Cloud"/>
              <a:ea typeface="Cloud"/>
              <a:cs typeface="Cloud"/>
              <a:sym typeface="Cloud"/>
            </a:endParaRPr>
          </a:p>
          <a:p>
            <a:pPr marL="401033" lvl="1" indent="-200517" algn="ctr">
              <a:lnSpc>
                <a:spcPts val="2600"/>
              </a:lnSpc>
              <a:buFont typeface="Arial"/>
              <a:buChar char="•"/>
            </a:pPr>
            <a:r>
              <a:rPr lang="en-US" sz="1857" spc="221">
                <a:solidFill>
                  <a:srgbClr val="FFFFFF"/>
                </a:solidFill>
                <a:latin typeface="Cloud"/>
                <a:ea typeface="Cloud"/>
                <a:cs typeface="Cloud"/>
                <a:sym typeface="Cloud"/>
              </a:rPr>
              <a:t>Provides end-to-end encryption, safeguarding data in transit from interception.</a:t>
            </a:r>
          </a:p>
          <a:p>
            <a:pPr algn="ctr">
              <a:lnSpc>
                <a:spcPts val="2460"/>
              </a:lnSpc>
              <a:spcBef>
                <a:spcPct val="0"/>
              </a:spcBef>
            </a:pPr>
            <a:endParaRPr lang="en-US" sz="1857" spc="221">
              <a:solidFill>
                <a:srgbClr val="FFFFFF"/>
              </a:solidFill>
              <a:latin typeface="Cloud"/>
              <a:ea typeface="Cloud"/>
              <a:cs typeface="Cloud"/>
              <a:sym typeface="Cloud"/>
            </a:endParaRPr>
          </a:p>
        </p:txBody>
      </p:sp>
      <p:sp>
        <p:nvSpPr>
          <p:cNvPr id="20" name="TextBox 20"/>
          <p:cNvSpPr txBox="1"/>
          <p:nvPr/>
        </p:nvSpPr>
        <p:spPr>
          <a:xfrm>
            <a:off x="12407811" y="6222160"/>
            <a:ext cx="4083661" cy="3769805"/>
          </a:xfrm>
          <a:prstGeom prst="rect">
            <a:avLst/>
          </a:prstGeom>
        </p:spPr>
        <p:txBody>
          <a:bodyPr lIns="0" tIns="0" rIns="0" bIns="0" rtlCol="0" anchor="t">
            <a:spAutoFit/>
          </a:bodyPr>
          <a:lstStyle/>
          <a:p>
            <a:pPr algn="ctr">
              <a:lnSpc>
                <a:spcPts val="2740"/>
              </a:lnSpc>
              <a:spcBef>
                <a:spcPct val="0"/>
              </a:spcBef>
            </a:pPr>
            <a:endParaRPr/>
          </a:p>
          <a:p>
            <a:pPr marL="422623" lvl="1" indent="-211311" algn="ctr">
              <a:lnSpc>
                <a:spcPts val="2740"/>
              </a:lnSpc>
              <a:spcBef>
                <a:spcPct val="0"/>
              </a:spcBef>
              <a:buFont typeface="Arial"/>
              <a:buChar char="•"/>
            </a:pPr>
            <a:r>
              <a:rPr lang="en-US" sz="1957" spc="232">
                <a:solidFill>
                  <a:srgbClr val="FFFFFF"/>
                </a:solidFill>
                <a:latin typeface="Cloud"/>
                <a:ea typeface="Cloud"/>
                <a:cs typeface="Cloud"/>
                <a:sym typeface="Cloud"/>
              </a:rPr>
              <a:t>Verified secure access to application routes with tamper-proof DNS and encrypted communication.</a:t>
            </a:r>
          </a:p>
          <a:p>
            <a:pPr marL="422623" lvl="1" indent="-211311" algn="ctr">
              <a:lnSpc>
                <a:spcPts val="2740"/>
              </a:lnSpc>
              <a:spcBef>
                <a:spcPct val="0"/>
              </a:spcBef>
              <a:buFont typeface="Arial"/>
              <a:buChar char="•"/>
            </a:pPr>
            <a:r>
              <a:rPr lang="en-US" sz="1957" spc="232">
                <a:solidFill>
                  <a:srgbClr val="FFFFFF"/>
                </a:solidFill>
                <a:latin typeface="Cloud"/>
                <a:ea typeface="Cloud"/>
                <a:cs typeface="Cloud"/>
                <a:sym typeface="Cloud"/>
              </a:rPr>
              <a:t>Fully compliant with GDPR and PCI DSS standards, ensuring user trust and data protection.</a:t>
            </a:r>
          </a:p>
          <a:p>
            <a:pPr algn="ctr">
              <a:lnSpc>
                <a:spcPts val="2740"/>
              </a:lnSpc>
              <a:spcBef>
                <a:spcPct val="0"/>
              </a:spcBef>
            </a:pPr>
            <a:endParaRPr lang="en-US" sz="1957" spc="232">
              <a:solidFill>
                <a:srgbClr val="FFFFFF"/>
              </a:solidFill>
              <a:latin typeface="Cloud"/>
              <a:ea typeface="Cloud"/>
              <a:cs typeface="Cloud"/>
              <a:sym typeface="Cloud"/>
            </a:endParaRPr>
          </a:p>
        </p:txBody>
      </p:sp>
      <p:sp>
        <p:nvSpPr>
          <p:cNvPr id="21" name="Freeform 21"/>
          <p:cNvSpPr/>
          <p:nvPr/>
        </p:nvSpPr>
        <p:spPr>
          <a:xfrm>
            <a:off x="15333173" y="565650"/>
            <a:ext cx="3152965" cy="3152965"/>
          </a:xfrm>
          <a:custGeom>
            <a:avLst/>
            <a:gdLst/>
            <a:ahLst/>
            <a:cxnLst/>
            <a:rect l="l" t="t" r="r" b="b"/>
            <a:pathLst>
              <a:path w="3152965" h="3152965">
                <a:moveTo>
                  <a:pt x="0" y="0"/>
                </a:moveTo>
                <a:lnTo>
                  <a:pt x="3152965" y="0"/>
                </a:lnTo>
                <a:lnTo>
                  <a:pt x="3152965" y="3152965"/>
                </a:lnTo>
                <a:lnTo>
                  <a:pt x="0" y="3152965"/>
                </a:lnTo>
                <a:lnTo>
                  <a:pt x="0" y="0"/>
                </a:lnTo>
                <a:close/>
              </a:path>
            </a:pathLst>
          </a:custGeom>
          <a:blipFill>
            <a:blip r:embed="rId3"/>
            <a:stretch>
              <a:fillRect/>
            </a:stretch>
          </a:blipFill>
        </p:spPr>
        <p:txBody>
          <a:bodyPr/>
          <a:lstStyle/>
          <a:p>
            <a:endParaRPr lang="en-CA"/>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772121" y="0"/>
            <a:ext cx="11709920" cy="10855389"/>
            <a:chOff x="0" y="0"/>
            <a:chExt cx="693921" cy="643282"/>
          </a:xfrm>
        </p:grpSpPr>
        <p:sp>
          <p:nvSpPr>
            <p:cNvPr id="3" name="Freeform 3"/>
            <p:cNvSpPr/>
            <p:nvPr/>
          </p:nvSpPr>
          <p:spPr>
            <a:xfrm>
              <a:off x="0" y="0"/>
              <a:ext cx="693921" cy="643282"/>
            </a:xfrm>
            <a:custGeom>
              <a:avLst/>
              <a:gdLst/>
              <a:ahLst/>
              <a:cxnLst/>
              <a:rect l="l" t="t" r="r" b="b"/>
              <a:pathLst>
                <a:path w="693921" h="643282">
                  <a:moveTo>
                    <a:pt x="203200" y="0"/>
                  </a:moveTo>
                  <a:lnTo>
                    <a:pt x="693921" y="0"/>
                  </a:lnTo>
                  <a:lnTo>
                    <a:pt x="490721" y="643282"/>
                  </a:lnTo>
                  <a:lnTo>
                    <a:pt x="0" y="643282"/>
                  </a:lnTo>
                  <a:lnTo>
                    <a:pt x="203200" y="0"/>
                  </a:lnTo>
                  <a:close/>
                </a:path>
              </a:pathLst>
            </a:custGeom>
            <a:solidFill>
              <a:srgbClr val="2B485F"/>
            </a:solidFill>
          </p:spPr>
          <p:txBody>
            <a:bodyPr/>
            <a:lstStyle/>
            <a:p>
              <a:endParaRPr lang="en-CA"/>
            </a:p>
          </p:txBody>
        </p:sp>
        <p:sp>
          <p:nvSpPr>
            <p:cNvPr id="4" name="TextBox 4"/>
            <p:cNvSpPr txBox="1"/>
            <p:nvPr/>
          </p:nvSpPr>
          <p:spPr>
            <a:xfrm>
              <a:off x="101600" y="-66675"/>
              <a:ext cx="490721" cy="709957"/>
            </a:xfrm>
            <a:prstGeom prst="rect">
              <a:avLst/>
            </a:prstGeom>
          </p:spPr>
          <p:txBody>
            <a:bodyPr lIns="50800" tIns="50800" rIns="50800" bIns="50800" rtlCol="0" anchor="ctr"/>
            <a:lstStyle/>
            <a:p>
              <a:pPr algn="ctr">
                <a:lnSpc>
                  <a:spcPts val="3640"/>
                </a:lnSpc>
              </a:pPr>
              <a:endParaRPr/>
            </a:p>
          </p:txBody>
        </p:sp>
      </p:grpSp>
      <p:grpSp>
        <p:nvGrpSpPr>
          <p:cNvPr id="5" name="Group 5"/>
          <p:cNvGrpSpPr/>
          <p:nvPr/>
        </p:nvGrpSpPr>
        <p:grpSpPr>
          <a:xfrm>
            <a:off x="0" y="3294058"/>
            <a:ext cx="10323934" cy="6756921"/>
            <a:chOff x="0" y="0"/>
            <a:chExt cx="2719061" cy="1779601"/>
          </a:xfrm>
        </p:grpSpPr>
        <p:sp>
          <p:nvSpPr>
            <p:cNvPr id="6" name="Freeform 6"/>
            <p:cNvSpPr/>
            <p:nvPr/>
          </p:nvSpPr>
          <p:spPr>
            <a:xfrm>
              <a:off x="0" y="0"/>
              <a:ext cx="2719061" cy="1779600"/>
            </a:xfrm>
            <a:custGeom>
              <a:avLst/>
              <a:gdLst/>
              <a:ahLst/>
              <a:cxnLst/>
              <a:rect l="l" t="t" r="r" b="b"/>
              <a:pathLst>
                <a:path w="2719061" h="1779600">
                  <a:moveTo>
                    <a:pt x="38245" y="0"/>
                  </a:moveTo>
                  <a:lnTo>
                    <a:pt x="2680816" y="0"/>
                  </a:lnTo>
                  <a:cubicBezTo>
                    <a:pt x="2690959" y="0"/>
                    <a:pt x="2700687" y="4029"/>
                    <a:pt x="2707859" y="11202"/>
                  </a:cubicBezTo>
                  <a:cubicBezTo>
                    <a:pt x="2715031" y="18374"/>
                    <a:pt x="2719061" y="28102"/>
                    <a:pt x="2719061" y="38245"/>
                  </a:cubicBezTo>
                  <a:lnTo>
                    <a:pt x="2719061" y="1741356"/>
                  </a:lnTo>
                  <a:cubicBezTo>
                    <a:pt x="2719061" y="1751499"/>
                    <a:pt x="2715031" y="1761226"/>
                    <a:pt x="2707859" y="1768399"/>
                  </a:cubicBezTo>
                  <a:cubicBezTo>
                    <a:pt x="2700687" y="1775571"/>
                    <a:pt x="2690959" y="1779600"/>
                    <a:pt x="2680816" y="1779600"/>
                  </a:cubicBezTo>
                  <a:lnTo>
                    <a:pt x="38245" y="1779600"/>
                  </a:lnTo>
                  <a:cubicBezTo>
                    <a:pt x="28102" y="1779600"/>
                    <a:pt x="18374" y="1775571"/>
                    <a:pt x="11202" y="1768399"/>
                  </a:cubicBezTo>
                  <a:cubicBezTo>
                    <a:pt x="4029" y="1761226"/>
                    <a:pt x="0" y="1751499"/>
                    <a:pt x="0" y="1741356"/>
                  </a:cubicBezTo>
                  <a:lnTo>
                    <a:pt x="0" y="38245"/>
                  </a:lnTo>
                  <a:cubicBezTo>
                    <a:pt x="0" y="28102"/>
                    <a:pt x="4029" y="18374"/>
                    <a:pt x="11202" y="11202"/>
                  </a:cubicBezTo>
                  <a:cubicBezTo>
                    <a:pt x="18374" y="4029"/>
                    <a:pt x="28102" y="0"/>
                    <a:pt x="38245" y="0"/>
                  </a:cubicBezTo>
                  <a:close/>
                </a:path>
              </a:pathLst>
            </a:custGeom>
            <a:solidFill>
              <a:srgbClr val="2B485F"/>
            </a:solidFill>
          </p:spPr>
          <p:txBody>
            <a:bodyPr/>
            <a:lstStyle/>
            <a:p>
              <a:endParaRPr lang="en-CA"/>
            </a:p>
          </p:txBody>
        </p:sp>
        <p:sp>
          <p:nvSpPr>
            <p:cNvPr id="7" name="TextBox 7"/>
            <p:cNvSpPr txBox="1"/>
            <p:nvPr/>
          </p:nvSpPr>
          <p:spPr>
            <a:xfrm>
              <a:off x="0" y="-66675"/>
              <a:ext cx="2719061" cy="1846276"/>
            </a:xfrm>
            <a:prstGeom prst="rect">
              <a:avLst/>
            </a:prstGeom>
          </p:spPr>
          <p:txBody>
            <a:bodyPr lIns="50800" tIns="50800" rIns="50800" bIns="50800" rtlCol="0" anchor="ctr"/>
            <a:lstStyle/>
            <a:p>
              <a:pPr algn="ctr">
                <a:lnSpc>
                  <a:spcPts val="3640"/>
                </a:lnSpc>
              </a:pPr>
              <a:endParaRPr/>
            </a:p>
          </p:txBody>
        </p:sp>
      </p:grpSp>
      <p:sp>
        <p:nvSpPr>
          <p:cNvPr id="8" name="AutoShape 8"/>
          <p:cNvSpPr/>
          <p:nvPr/>
        </p:nvSpPr>
        <p:spPr>
          <a:xfrm>
            <a:off x="1028700" y="2994201"/>
            <a:ext cx="2050229" cy="0"/>
          </a:xfrm>
          <a:prstGeom prst="line">
            <a:avLst/>
          </a:prstGeom>
          <a:ln w="85725" cap="flat">
            <a:solidFill>
              <a:srgbClr val="365679"/>
            </a:solidFill>
            <a:prstDash val="solid"/>
            <a:headEnd type="none" w="sm" len="sm"/>
            <a:tailEnd type="none" w="sm" len="sm"/>
          </a:ln>
        </p:spPr>
        <p:txBody>
          <a:bodyPr/>
          <a:lstStyle/>
          <a:p>
            <a:endParaRPr lang="en-CA"/>
          </a:p>
        </p:txBody>
      </p:sp>
      <p:sp>
        <p:nvSpPr>
          <p:cNvPr id="9" name="TextBox 9"/>
          <p:cNvSpPr txBox="1"/>
          <p:nvPr/>
        </p:nvSpPr>
        <p:spPr>
          <a:xfrm>
            <a:off x="1028700" y="668513"/>
            <a:ext cx="6095117" cy="2282825"/>
          </a:xfrm>
          <a:prstGeom prst="rect">
            <a:avLst/>
          </a:prstGeom>
        </p:spPr>
        <p:txBody>
          <a:bodyPr lIns="0" tIns="0" rIns="0" bIns="0" rtlCol="0" anchor="t">
            <a:spAutoFit/>
          </a:bodyPr>
          <a:lstStyle/>
          <a:p>
            <a:pPr algn="l">
              <a:lnSpc>
                <a:spcPts val="9099"/>
              </a:lnSpc>
            </a:pPr>
            <a:r>
              <a:rPr lang="en-US" sz="6999" spc="167">
                <a:solidFill>
                  <a:srgbClr val="365679"/>
                </a:solidFill>
                <a:latin typeface="League Spartan"/>
                <a:ea typeface="League Spartan"/>
                <a:cs typeface="League Spartan"/>
                <a:sym typeface="League Spartan"/>
              </a:rPr>
              <a:t>Challenges Encountered</a:t>
            </a:r>
          </a:p>
        </p:txBody>
      </p:sp>
      <p:sp>
        <p:nvSpPr>
          <p:cNvPr id="10" name="TextBox 10"/>
          <p:cNvSpPr txBox="1"/>
          <p:nvPr/>
        </p:nvSpPr>
        <p:spPr>
          <a:xfrm>
            <a:off x="277692" y="3685268"/>
            <a:ext cx="9043184" cy="4666090"/>
          </a:xfrm>
          <a:prstGeom prst="rect">
            <a:avLst/>
          </a:prstGeom>
        </p:spPr>
        <p:txBody>
          <a:bodyPr lIns="0" tIns="0" rIns="0" bIns="0" rtlCol="0" anchor="t">
            <a:spAutoFit/>
          </a:bodyPr>
          <a:lstStyle/>
          <a:p>
            <a:pPr marL="576595" lvl="1" indent="-288298" algn="l">
              <a:lnSpc>
                <a:spcPts val="3738"/>
              </a:lnSpc>
              <a:buFont typeface="Arial"/>
              <a:buChar char="•"/>
            </a:pPr>
            <a:r>
              <a:rPr lang="en-US" sz="2670" spc="317">
                <a:solidFill>
                  <a:srgbClr val="FFFFFF"/>
                </a:solidFill>
                <a:latin typeface="Cloud"/>
                <a:ea typeface="Cloud"/>
                <a:cs typeface="Cloud"/>
                <a:sym typeface="Cloud"/>
              </a:rPr>
              <a:t>Cloudflare Tunnel Configuration: Issues with hostname mapping and traffic routing due to misconfigured ports.</a:t>
            </a:r>
          </a:p>
          <a:p>
            <a:pPr algn="l">
              <a:lnSpc>
                <a:spcPts val="3738"/>
              </a:lnSpc>
            </a:pPr>
            <a:endParaRPr lang="en-US" sz="2670" spc="317">
              <a:solidFill>
                <a:srgbClr val="FFFFFF"/>
              </a:solidFill>
              <a:latin typeface="Cloud"/>
              <a:ea typeface="Cloud"/>
              <a:cs typeface="Cloud"/>
              <a:sym typeface="Cloud"/>
            </a:endParaRPr>
          </a:p>
          <a:p>
            <a:pPr marL="576595" lvl="1" indent="-288298" algn="l">
              <a:lnSpc>
                <a:spcPts val="3738"/>
              </a:lnSpc>
              <a:buFont typeface="Arial"/>
              <a:buChar char="•"/>
            </a:pPr>
            <a:r>
              <a:rPr lang="en-US" sz="2670" spc="317">
                <a:solidFill>
                  <a:srgbClr val="FFFFFF"/>
                </a:solidFill>
                <a:latin typeface="Cloud"/>
                <a:ea typeface="Cloud"/>
                <a:cs typeface="Cloud"/>
                <a:sym typeface="Cloud"/>
              </a:rPr>
              <a:t>SSO Integration: Redirect URI errors while integrating GitHub as the Identity Provider.</a:t>
            </a:r>
          </a:p>
          <a:p>
            <a:pPr algn="l">
              <a:lnSpc>
                <a:spcPts val="3738"/>
              </a:lnSpc>
            </a:pPr>
            <a:endParaRPr lang="en-US" sz="2670" spc="317">
              <a:solidFill>
                <a:srgbClr val="FFFFFF"/>
              </a:solidFill>
              <a:latin typeface="Cloud"/>
              <a:ea typeface="Cloud"/>
              <a:cs typeface="Cloud"/>
              <a:sym typeface="Cloud"/>
            </a:endParaRPr>
          </a:p>
          <a:p>
            <a:pPr marL="576595" lvl="1" indent="-288298" algn="l">
              <a:lnSpc>
                <a:spcPts val="3738"/>
              </a:lnSpc>
              <a:buFont typeface="Arial"/>
              <a:buChar char="•"/>
            </a:pPr>
            <a:r>
              <a:rPr lang="en-US" sz="2670" spc="317">
                <a:solidFill>
                  <a:srgbClr val="FFFFFF"/>
                </a:solidFill>
                <a:latin typeface="Cloud"/>
                <a:ea typeface="Cloud"/>
                <a:cs typeface="Cloud"/>
                <a:sym typeface="Cloud"/>
              </a:rPr>
              <a:t>End-to-End Encryption: SSL/TLS validation errors during Full (Strict) encryption setup.</a:t>
            </a:r>
          </a:p>
          <a:p>
            <a:pPr algn="l">
              <a:lnSpc>
                <a:spcPts val="3738"/>
              </a:lnSpc>
            </a:pPr>
            <a:endParaRPr lang="en-US" sz="2670" spc="317">
              <a:solidFill>
                <a:srgbClr val="FFFFFF"/>
              </a:solidFill>
              <a:latin typeface="Cloud"/>
              <a:ea typeface="Cloud"/>
              <a:cs typeface="Cloud"/>
              <a:sym typeface="Cloud"/>
            </a:endParaRPr>
          </a:p>
        </p:txBody>
      </p:sp>
      <p:grpSp>
        <p:nvGrpSpPr>
          <p:cNvPr id="11" name="Group 11"/>
          <p:cNvGrpSpPr/>
          <p:nvPr/>
        </p:nvGrpSpPr>
        <p:grpSpPr>
          <a:xfrm>
            <a:off x="9843474" y="1206527"/>
            <a:ext cx="7570292" cy="7570292"/>
            <a:chOff x="0" y="0"/>
            <a:chExt cx="812800" cy="812800"/>
          </a:xfrm>
        </p:grpSpPr>
        <p:sp>
          <p:nvSpPr>
            <p:cNvPr id="12" name="Freeform 12"/>
            <p:cNvSpPr/>
            <p:nvPr/>
          </p:nvSpPr>
          <p:spPr>
            <a:xfrm>
              <a:off x="0" y="0"/>
              <a:ext cx="812800" cy="812800"/>
            </a:xfrm>
            <a:custGeom>
              <a:avLst/>
              <a:gdLst/>
              <a:ahLst/>
              <a:cxnLst/>
              <a:rect l="l" t="t" r="r" b="b"/>
              <a:pathLst>
                <a:path w="812800" h="812800">
                  <a:moveTo>
                    <a:pt x="23521" y="0"/>
                  </a:moveTo>
                  <a:lnTo>
                    <a:pt x="789279" y="0"/>
                  </a:lnTo>
                  <a:cubicBezTo>
                    <a:pt x="802269" y="0"/>
                    <a:pt x="812800" y="10531"/>
                    <a:pt x="812800" y="23521"/>
                  </a:cubicBezTo>
                  <a:lnTo>
                    <a:pt x="812800" y="789279"/>
                  </a:lnTo>
                  <a:cubicBezTo>
                    <a:pt x="812800" y="802269"/>
                    <a:pt x="802269" y="812800"/>
                    <a:pt x="789279" y="812800"/>
                  </a:cubicBezTo>
                  <a:lnTo>
                    <a:pt x="23521" y="812800"/>
                  </a:lnTo>
                  <a:cubicBezTo>
                    <a:pt x="10531" y="812800"/>
                    <a:pt x="0" y="802269"/>
                    <a:pt x="0" y="789279"/>
                  </a:cubicBezTo>
                  <a:lnTo>
                    <a:pt x="0" y="23521"/>
                  </a:lnTo>
                  <a:cubicBezTo>
                    <a:pt x="0" y="10531"/>
                    <a:pt x="10531" y="0"/>
                    <a:pt x="23521" y="0"/>
                  </a:cubicBezTo>
                  <a:close/>
                </a:path>
              </a:pathLst>
            </a:custGeom>
            <a:blipFill>
              <a:blip r:embed="rId2"/>
              <a:stretch>
                <a:fillRect l="-25046" r="-25046"/>
              </a:stretch>
            </a:blipFill>
          </p:spPr>
          <p:txBody>
            <a:bodyPr/>
            <a:lstStyle/>
            <a:p>
              <a:endParaRPr lang="en-CA"/>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624739" y="539339"/>
            <a:ext cx="9153823" cy="9208323"/>
            <a:chOff x="0" y="0"/>
            <a:chExt cx="2410883" cy="2425237"/>
          </a:xfrm>
        </p:grpSpPr>
        <p:sp>
          <p:nvSpPr>
            <p:cNvPr id="3" name="Freeform 3"/>
            <p:cNvSpPr/>
            <p:nvPr/>
          </p:nvSpPr>
          <p:spPr>
            <a:xfrm>
              <a:off x="0" y="0"/>
              <a:ext cx="2410883" cy="2425237"/>
            </a:xfrm>
            <a:custGeom>
              <a:avLst/>
              <a:gdLst/>
              <a:ahLst/>
              <a:cxnLst/>
              <a:rect l="l" t="t" r="r" b="b"/>
              <a:pathLst>
                <a:path w="2410883" h="2425237">
                  <a:moveTo>
                    <a:pt x="0" y="0"/>
                  </a:moveTo>
                  <a:lnTo>
                    <a:pt x="2410883" y="0"/>
                  </a:lnTo>
                  <a:lnTo>
                    <a:pt x="2410883" y="2425237"/>
                  </a:lnTo>
                  <a:lnTo>
                    <a:pt x="0" y="2425237"/>
                  </a:lnTo>
                  <a:close/>
                </a:path>
              </a:pathLst>
            </a:custGeom>
            <a:solidFill>
              <a:srgbClr val="436078"/>
            </a:solidFill>
          </p:spPr>
          <p:txBody>
            <a:bodyPr/>
            <a:lstStyle/>
            <a:p>
              <a:endParaRPr lang="en-CA"/>
            </a:p>
          </p:txBody>
        </p:sp>
        <p:sp>
          <p:nvSpPr>
            <p:cNvPr id="4" name="TextBox 4"/>
            <p:cNvSpPr txBox="1"/>
            <p:nvPr/>
          </p:nvSpPr>
          <p:spPr>
            <a:xfrm>
              <a:off x="0" y="-47625"/>
              <a:ext cx="2410883" cy="2472862"/>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9513609" y="1320940"/>
            <a:ext cx="6984876" cy="7937360"/>
          </a:xfrm>
          <a:custGeom>
            <a:avLst/>
            <a:gdLst/>
            <a:ahLst/>
            <a:cxnLst/>
            <a:rect l="l" t="t" r="r" b="b"/>
            <a:pathLst>
              <a:path w="6984876" h="7937360">
                <a:moveTo>
                  <a:pt x="0" y="0"/>
                </a:moveTo>
                <a:lnTo>
                  <a:pt x="6984877" y="0"/>
                </a:lnTo>
                <a:lnTo>
                  <a:pt x="6984877" y="7937360"/>
                </a:lnTo>
                <a:lnTo>
                  <a:pt x="0" y="7937360"/>
                </a:lnTo>
                <a:lnTo>
                  <a:pt x="0" y="0"/>
                </a:lnTo>
                <a:close/>
              </a:path>
            </a:pathLst>
          </a:custGeom>
          <a:blipFill>
            <a:blip r:embed="rId2"/>
            <a:stretch>
              <a:fillRect/>
            </a:stretch>
          </a:blipFill>
        </p:spPr>
        <p:txBody>
          <a:bodyPr/>
          <a:lstStyle/>
          <a:p>
            <a:endParaRPr lang="en-CA"/>
          </a:p>
        </p:txBody>
      </p:sp>
      <p:sp>
        <p:nvSpPr>
          <p:cNvPr id="6" name="TextBox 6"/>
          <p:cNvSpPr txBox="1"/>
          <p:nvPr/>
        </p:nvSpPr>
        <p:spPr>
          <a:xfrm>
            <a:off x="315500" y="2270901"/>
            <a:ext cx="8024894" cy="6787877"/>
          </a:xfrm>
          <a:prstGeom prst="rect">
            <a:avLst/>
          </a:prstGeom>
        </p:spPr>
        <p:txBody>
          <a:bodyPr lIns="0" tIns="0" rIns="0" bIns="0" rtlCol="0" anchor="t">
            <a:spAutoFit/>
          </a:bodyPr>
          <a:lstStyle/>
          <a:p>
            <a:pPr algn="l">
              <a:lnSpc>
                <a:spcPts val="3865"/>
              </a:lnSpc>
            </a:pPr>
            <a:endParaRPr/>
          </a:p>
          <a:p>
            <a:pPr marL="596046" lvl="1" indent="-298023" algn="l">
              <a:lnSpc>
                <a:spcPts val="3865"/>
              </a:lnSpc>
              <a:buAutoNum type="arabicPeriod"/>
            </a:pPr>
            <a:r>
              <a:rPr lang="en-US" sz="2760" spc="66">
                <a:solidFill>
                  <a:srgbClr val="000000"/>
                </a:solidFill>
                <a:latin typeface="League Spartan"/>
                <a:ea typeface="League Spartan"/>
                <a:cs typeface="League Spartan"/>
                <a:sym typeface="League Spartan"/>
              </a:rPr>
              <a:t>Secure Cloud Infrastructure:</a:t>
            </a:r>
          </a:p>
          <a:p>
            <a:pPr marL="1192092" lvl="2" indent="-397364" algn="l">
              <a:lnSpc>
                <a:spcPts val="3865"/>
              </a:lnSpc>
              <a:buFont typeface="Arial"/>
              <a:buChar char="⚬"/>
            </a:pPr>
            <a:r>
              <a:rPr lang="en-US" sz="2760" spc="66">
                <a:solidFill>
                  <a:srgbClr val="000000"/>
                </a:solidFill>
                <a:latin typeface="League Spartan"/>
                <a:ea typeface="League Spartan"/>
                <a:cs typeface="League Spartan"/>
                <a:sym typeface="League Spartan"/>
              </a:rPr>
              <a:t>A robust, scalable origin server protected by Cloudflare and advanced encryption technologies.</a:t>
            </a:r>
          </a:p>
          <a:p>
            <a:pPr marL="596046" lvl="1" indent="-298023" algn="l">
              <a:lnSpc>
                <a:spcPts val="3865"/>
              </a:lnSpc>
              <a:buAutoNum type="arabicPeriod"/>
            </a:pPr>
            <a:r>
              <a:rPr lang="en-US" sz="2760" spc="66">
                <a:solidFill>
                  <a:srgbClr val="000000"/>
                </a:solidFill>
                <a:latin typeface="League Spartan"/>
                <a:ea typeface="League Spartan"/>
                <a:cs typeface="League Spartan"/>
                <a:sym typeface="League Spartan"/>
              </a:rPr>
              <a:t>Enhanced Access Control:</a:t>
            </a:r>
          </a:p>
          <a:p>
            <a:pPr marL="1192092" lvl="2" indent="-397364" algn="l">
              <a:lnSpc>
                <a:spcPts val="3865"/>
              </a:lnSpc>
              <a:buFont typeface="Arial"/>
              <a:buChar char="⚬"/>
            </a:pPr>
            <a:r>
              <a:rPr lang="en-US" sz="2760" spc="66">
                <a:solidFill>
                  <a:srgbClr val="000000"/>
                </a:solidFill>
                <a:latin typeface="League Spartan"/>
                <a:ea typeface="League Spartan"/>
                <a:cs typeface="League Spartan"/>
                <a:sym typeface="League Spartan"/>
              </a:rPr>
              <a:t>Zero Trust architecture integrated with GitHub SSO for seamless and secure user authentication.</a:t>
            </a:r>
          </a:p>
          <a:p>
            <a:pPr marL="596046" lvl="1" indent="-298023" algn="l">
              <a:lnSpc>
                <a:spcPts val="3865"/>
              </a:lnSpc>
              <a:buAutoNum type="arabicPeriod"/>
            </a:pPr>
            <a:r>
              <a:rPr lang="en-US" sz="2760" spc="66">
                <a:solidFill>
                  <a:srgbClr val="000000"/>
                </a:solidFill>
                <a:latin typeface="League Spartan"/>
                <a:ea typeface="League Spartan"/>
                <a:cs typeface="League Spartan"/>
                <a:sym typeface="League Spartan"/>
              </a:rPr>
              <a:t>End-to-End Encryption:</a:t>
            </a:r>
          </a:p>
          <a:p>
            <a:pPr marL="1192092" lvl="2" indent="-397364" algn="l">
              <a:lnSpc>
                <a:spcPts val="3865"/>
              </a:lnSpc>
              <a:buFont typeface="Arial"/>
              <a:buChar char="⚬"/>
            </a:pPr>
            <a:r>
              <a:rPr lang="en-US" sz="2760" spc="66">
                <a:solidFill>
                  <a:srgbClr val="000000"/>
                </a:solidFill>
                <a:latin typeface="League Spartan"/>
                <a:ea typeface="League Spartan"/>
                <a:cs typeface="League Spartan"/>
                <a:sym typeface="League Spartan"/>
              </a:rPr>
              <a:t>Full (Strict) SSL/TLS and DNSSEC ensuring secure communication and tamper-proof DNS records.</a:t>
            </a:r>
          </a:p>
          <a:p>
            <a:pPr marL="0" lvl="0" indent="0" algn="l">
              <a:lnSpc>
                <a:spcPts val="3865"/>
              </a:lnSpc>
              <a:spcBef>
                <a:spcPct val="0"/>
              </a:spcBef>
            </a:pPr>
            <a:endParaRPr lang="en-US" sz="2760" spc="66">
              <a:solidFill>
                <a:srgbClr val="000000"/>
              </a:solidFill>
              <a:latin typeface="League Spartan"/>
              <a:ea typeface="League Spartan"/>
              <a:cs typeface="League Spartan"/>
              <a:sym typeface="League Spartan"/>
            </a:endParaRPr>
          </a:p>
        </p:txBody>
      </p:sp>
      <p:sp>
        <p:nvSpPr>
          <p:cNvPr id="7" name="TextBox 7"/>
          <p:cNvSpPr txBox="1"/>
          <p:nvPr/>
        </p:nvSpPr>
        <p:spPr>
          <a:xfrm>
            <a:off x="1508424" y="1330465"/>
            <a:ext cx="5857055" cy="733425"/>
          </a:xfrm>
          <a:prstGeom prst="rect">
            <a:avLst/>
          </a:prstGeom>
        </p:spPr>
        <p:txBody>
          <a:bodyPr lIns="0" tIns="0" rIns="0" bIns="0" rtlCol="0" anchor="t">
            <a:spAutoFit/>
          </a:bodyPr>
          <a:lstStyle/>
          <a:p>
            <a:pPr marL="0" lvl="0" indent="0" algn="l">
              <a:lnSpc>
                <a:spcPts val="5891"/>
              </a:lnSpc>
              <a:spcBef>
                <a:spcPct val="0"/>
              </a:spcBef>
            </a:pPr>
            <a:r>
              <a:rPr lang="en-US" sz="4909" spc="117">
                <a:solidFill>
                  <a:srgbClr val="000000"/>
                </a:solidFill>
                <a:latin typeface="League Spartan"/>
                <a:ea typeface="League Spartan"/>
                <a:cs typeface="League Spartan"/>
                <a:sym typeface="League Spartan"/>
              </a:rPr>
              <a:t>What We Deliver</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365050" y="118758"/>
            <a:ext cx="16074978" cy="7991215"/>
            <a:chOff x="0" y="0"/>
            <a:chExt cx="952591" cy="473553"/>
          </a:xfrm>
        </p:grpSpPr>
        <p:sp>
          <p:nvSpPr>
            <p:cNvPr id="3" name="Freeform 3"/>
            <p:cNvSpPr/>
            <p:nvPr/>
          </p:nvSpPr>
          <p:spPr>
            <a:xfrm>
              <a:off x="0" y="0"/>
              <a:ext cx="952591" cy="473553"/>
            </a:xfrm>
            <a:custGeom>
              <a:avLst/>
              <a:gdLst/>
              <a:ahLst/>
              <a:cxnLst/>
              <a:rect l="l" t="t" r="r" b="b"/>
              <a:pathLst>
                <a:path w="952591" h="473553">
                  <a:moveTo>
                    <a:pt x="203200" y="0"/>
                  </a:moveTo>
                  <a:lnTo>
                    <a:pt x="952591" y="0"/>
                  </a:lnTo>
                  <a:lnTo>
                    <a:pt x="749391" y="473553"/>
                  </a:lnTo>
                  <a:lnTo>
                    <a:pt x="0" y="473553"/>
                  </a:lnTo>
                  <a:lnTo>
                    <a:pt x="203200" y="0"/>
                  </a:lnTo>
                  <a:close/>
                </a:path>
              </a:pathLst>
            </a:custGeom>
            <a:solidFill>
              <a:srgbClr val="2B485F"/>
            </a:solidFill>
          </p:spPr>
          <p:txBody>
            <a:bodyPr/>
            <a:lstStyle/>
            <a:p>
              <a:endParaRPr lang="en-CA"/>
            </a:p>
          </p:txBody>
        </p:sp>
        <p:sp>
          <p:nvSpPr>
            <p:cNvPr id="4" name="TextBox 4"/>
            <p:cNvSpPr txBox="1"/>
            <p:nvPr/>
          </p:nvSpPr>
          <p:spPr>
            <a:xfrm>
              <a:off x="101600" y="-66675"/>
              <a:ext cx="749391" cy="540228"/>
            </a:xfrm>
            <a:prstGeom prst="rect">
              <a:avLst/>
            </a:prstGeom>
          </p:spPr>
          <p:txBody>
            <a:bodyPr lIns="50800" tIns="50800" rIns="50800" bIns="50800" rtlCol="0" anchor="ctr"/>
            <a:lstStyle/>
            <a:p>
              <a:pPr algn="ctr">
                <a:lnSpc>
                  <a:spcPts val="3640"/>
                </a:lnSpc>
              </a:pPr>
              <a:endParaRPr/>
            </a:p>
          </p:txBody>
        </p:sp>
      </p:grpSp>
      <p:grpSp>
        <p:nvGrpSpPr>
          <p:cNvPr id="5" name="Group 5"/>
          <p:cNvGrpSpPr/>
          <p:nvPr/>
        </p:nvGrpSpPr>
        <p:grpSpPr>
          <a:xfrm>
            <a:off x="10049845" y="0"/>
            <a:ext cx="11123371" cy="10287000"/>
            <a:chOff x="0" y="0"/>
            <a:chExt cx="1292476" cy="1195294"/>
          </a:xfrm>
        </p:grpSpPr>
        <p:sp>
          <p:nvSpPr>
            <p:cNvPr id="6" name="Freeform 6"/>
            <p:cNvSpPr/>
            <p:nvPr/>
          </p:nvSpPr>
          <p:spPr>
            <a:xfrm>
              <a:off x="0" y="0"/>
              <a:ext cx="1292476" cy="1195294"/>
            </a:xfrm>
            <a:custGeom>
              <a:avLst/>
              <a:gdLst/>
              <a:ahLst/>
              <a:cxnLst/>
              <a:rect l="l" t="t" r="r" b="b"/>
              <a:pathLst>
                <a:path w="1292476" h="1195294">
                  <a:moveTo>
                    <a:pt x="203200" y="0"/>
                  </a:moveTo>
                  <a:lnTo>
                    <a:pt x="1292476" y="0"/>
                  </a:lnTo>
                  <a:lnTo>
                    <a:pt x="1089276" y="1195294"/>
                  </a:lnTo>
                  <a:lnTo>
                    <a:pt x="0" y="1195294"/>
                  </a:lnTo>
                  <a:lnTo>
                    <a:pt x="203200" y="0"/>
                  </a:lnTo>
                  <a:close/>
                </a:path>
              </a:pathLst>
            </a:custGeom>
            <a:blipFill>
              <a:blip r:embed="rId2"/>
              <a:stretch>
                <a:fillRect t="-22086" b="-22086"/>
              </a:stretch>
            </a:blipFill>
          </p:spPr>
          <p:txBody>
            <a:bodyPr/>
            <a:lstStyle/>
            <a:p>
              <a:endParaRPr lang="en-CA"/>
            </a:p>
          </p:txBody>
        </p:sp>
      </p:grpSp>
      <p:sp>
        <p:nvSpPr>
          <p:cNvPr id="7" name="AutoShape 7"/>
          <p:cNvSpPr/>
          <p:nvPr/>
        </p:nvSpPr>
        <p:spPr>
          <a:xfrm>
            <a:off x="572307" y="2978906"/>
            <a:ext cx="2050229" cy="0"/>
          </a:xfrm>
          <a:prstGeom prst="line">
            <a:avLst/>
          </a:prstGeom>
          <a:ln w="85725" cap="flat">
            <a:solidFill>
              <a:srgbClr val="FFFFFF"/>
            </a:solidFill>
            <a:prstDash val="solid"/>
            <a:headEnd type="none" w="sm" len="sm"/>
            <a:tailEnd type="none" w="sm" len="sm"/>
          </a:ln>
        </p:spPr>
        <p:txBody>
          <a:bodyPr/>
          <a:lstStyle/>
          <a:p>
            <a:endParaRPr lang="en-CA"/>
          </a:p>
        </p:txBody>
      </p:sp>
      <p:sp>
        <p:nvSpPr>
          <p:cNvPr id="8" name="Freeform 8"/>
          <p:cNvSpPr/>
          <p:nvPr/>
        </p:nvSpPr>
        <p:spPr>
          <a:xfrm>
            <a:off x="718844" y="3586334"/>
            <a:ext cx="619711" cy="619711"/>
          </a:xfrm>
          <a:custGeom>
            <a:avLst/>
            <a:gdLst/>
            <a:ahLst/>
            <a:cxnLst/>
            <a:rect l="l" t="t" r="r" b="b"/>
            <a:pathLst>
              <a:path w="619711" h="619711">
                <a:moveTo>
                  <a:pt x="0" y="0"/>
                </a:moveTo>
                <a:lnTo>
                  <a:pt x="619712" y="0"/>
                </a:lnTo>
                <a:lnTo>
                  <a:pt x="619712" y="619712"/>
                </a:lnTo>
                <a:lnTo>
                  <a:pt x="0" y="61971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CA"/>
          </a:p>
        </p:txBody>
      </p:sp>
      <p:sp>
        <p:nvSpPr>
          <p:cNvPr id="9" name="Freeform 9"/>
          <p:cNvSpPr/>
          <p:nvPr/>
        </p:nvSpPr>
        <p:spPr>
          <a:xfrm>
            <a:off x="7099481" y="4206046"/>
            <a:ext cx="10754728" cy="5806022"/>
          </a:xfrm>
          <a:custGeom>
            <a:avLst/>
            <a:gdLst/>
            <a:ahLst/>
            <a:cxnLst/>
            <a:rect l="l" t="t" r="r" b="b"/>
            <a:pathLst>
              <a:path w="10754728" h="5806022">
                <a:moveTo>
                  <a:pt x="0" y="0"/>
                </a:moveTo>
                <a:lnTo>
                  <a:pt x="10754728" y="0"/>
                </a:lnTo>
                <a:lnTo>
                  <a:pt x="10754728" y="5806022"/>
                </a:lnTo>
                <a:lnTo>
                  <a:pt x="0" y="5806022"/>
                </a:lnTo>
                <a:lnTo>
                  <a:pt x="0" y="0"/>
                </a:lnTo>
                <a:close/>
              </a:path>
            </a:pathLst>
          </a:custGeom>
          <a:blipFill>
            <a:blip r:embed="rId5"/>
            <a:stretch>
              <a:fillRect t="-1228" r="-7663" b="-1228"/>
            </a:stretch>
          </a:blipFill>
        </p:spPr>
        <p:txBody>
          <a:bodyPr/>
          <a:lstStyle/>
          <a:p>
            <a:endParaRPr lang="en-CA"/>
          </a:p>
        </p:txBody>
      </p:sp>
      <p:sp>
        <p:nvSpPr>
          <p:cNvPr id="10" name="Freeform 10"/>
          <p:cNvSpPr/>
          <p:nvPr/>
        </p:nvSpPr>
        <p:spPr>
          <a:xfrm>
            <a:off x="1338556" y="4364508"/>
            <a:ext cx="4233328" cy="5647559"/>
          </a:xfrm>
          <a:custGeom>
            <a:avLst/>
            <a:gdLst/>
            <a:ahLst/>
            <a:cxnLst/>
            <a:rect l="l" t="t" r="r" b="b"/>
            <a:pathLst>
              <a:path w="4233328" h="5647559">
                <a:moveTo>
                  <a:pt x="0" y="0"/>
                </a:moveTo>
                <a:lnTo>
                  <a:pt x="4233328" y="0"/>
                </a:lnTo>
                <a:lnTo>
                  <a:pt x="4233328" y="5647560"/>
                </a:lnTo>
                <a:lnTo>
                  <a:pt x="0" y="5647560"/>
                </a:lnTo>
                <a:lnTo>
                  <a:pt x="0" y="0"/>
                </a:lnTo>
                <a:close/>
              </a:path>
            </a:pathLst>
          </a:custGeom>
          <a:blipFill>
            <a:blip r:embed="rId6"/>
            <a:stretch>
              <a:fillRect t="-4930" r="-1737" b="-30644"/>
            </a:stretch>
          </a:blipFill>
        </p:spPr>
        <p:txBody>
          <a:bodyPr/>
          <a:lstStyle/>
          <a:p>
            <a:endParaRPr lang="en-CA"/>
          </a:p>
        </p:txBody>
      </p:sp>
      <p:sp>
        <p:nvSpPr>
          <p:cNvPr id="11" name="TextBox 11"/>
          <p:cNvSpPr txBox="1"/>
          <p:nvPr/>
        </p:nvSpPr>
        <p:spPr>
          <a:xfrm>
            <a:off x="572307" y="504825"/>
            <a:ext cx="8937706" cy="2295622"/>
          </a:xfrm>
          <a:prstGeom prst="rect">
            <a:avLst/>
          </a:prstGeom>
        </p:spPr>
        <p:txBody>
          <a:bodyPr lIns="0" tIns="0" rIns="0" bIns="0" rtlCol="0" anchor="t">
            <a:spAutoFit/>
          </a:bodyPr>
          <a:lstStyle/>
          <a:p>
            <a:pPr algn="l">
              <a:lnSpc>
                <a:spcPts val="9190"/>
              </a:lnSpc>
            </a:pPr>
            <a:r>
              <a:rPr lang="en-US" sz="7069" spc="169">
                <a:solidFill>
                  <a:srgbClr val="FFFFFF"/>
                </a:solidFill>
                <a:latin typeface="League Spartan"/>
                <a:ea typeface="League Spartan"/>
                <a:cs typeface="League Spartan"/>
                <a:sym typeface="League Spartan"/>
              </a:rPr>
              <a:t>Access Our Website</a:t>
            </a:r>
          </a:p>
        </p:txBody>
      </p:sp>
      <p:sp>
        <p:nvSpPr>
          <p:cNvPr id="12" name="TextBox 12"/>
          <p:cNvSpPr txBox="1"/>
          <p:nvPr/>
        </p:nvSpPr>
        <p:spPr>
          <a:xfrm>
            <a:off x="1797418" y="3460092"/>
            <a:ext cx="6487485" cy="440023"/>
          </a:xfrm>
          <a:prstGeom prst="rect">
            <a:avLst/>
          </a:prstGeom>
        </p:spPr>
        <p:txBody>
          <a:bodyPr lIns="0" tIns="0" rIns="0" bIns="0" rtlCol="0" anchor="t">
            <a:spAutoFit/>
          </a:bodyPr>
          <a:lstStyle/>
          <a:p>
            <a:pPr algn="l">
              <a:lnSpc>
                <a:spcPts val="3571"/>
              </a:lnSpc>
            </a:pPr>
            <a:r>
              <a:rPr lang="en-US" sz="2551" u="sng" spc="89">
                <a:solidFill>
                  <a:srgbClr val="FFFFFF"/>
                </a:solidFill>
                <a:latin typeface="Inter"/>
                <a:ea typeface="Inter"/>
                <a:cs typeface="Inter"/>
                <a:sym typeface="Inter"/>
                <a:hlinkClick r:id="rId7" tooltip="http://secure.securesphere.solutions"/>
              </a:rPr>
              <a:t>http://secure.securesphere.solutions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818366" y="2504376"/>
            <a:ext cx="8819592" cy="1691352"/>
          </a:xfrm>
          <a:prstGeom prst="rect">
            <a:avLst/>
          </a:prstGeom>
        </p:spPr>
        <p:txBody>
          <a:bodyPr lIns="0" tIns="0" rIns="0" bIns="0" rtlCol="0" anchor="t">
            <a:spAutoFit/>
          </a:bodyPr>
          <a:lstStyle/>
          <a:p>
            <a:pPr marL="0" lvl="0" indent="0" algn="l">
              <a:lnSpc>
                <a:spcPts val="13875"/>
              </a:lnSpc>
              <a:spcBef>
                <a:spcPct val="0"/>
              </a:spcBef>
            </a:pPr>
            <a:r>
              <a:rPr lang="en-US" sz="9911" b="1" spc="237">
                <a:solidFill>
                  <a:srgbClr val="000000"/>
                </a:solidFill>
                <a:latin typeface="League Spartan"/>
                <a:ea typeface="League Spartan"/>
                <a:cs typeface="League Spartan"/>
                <a:sym typeface="League Spartan"/>
              </a:rPr>
              <a:t>THANK YOU!</a:t>
            </a:r>
          </a:p>
        </p:txBody>
      </p:sp>
      <p:sp>
        <p:nvSpPr>
          <p:cNvPr id="3" name="Freeform 3"/>
          <p:cNvSpPr/>
          <p:nvPr/>
        </p:nvSpPr>
        <p:spPr>
          <a:xfrm>
            <a:off x="12398912" y="967949"/>
            <a:ext cx="5889088" cy="8229600"/>
          </a:xfrm>
          <a:custGeom>
            <a:avLst/>
            <a:gdLst/>
            <a:ahLst/>
            <a:cxnLst/>
            <a:rect l="l" t="t" r="r" b="b"/>
            <a:pathLst>
              <a:path w="5889088" h="8229600">
                <a:moveTo>
                  <a:pt x="0" y="0"/>
                </a:moveTo>
                <a:lnTo>
                  <a:pt x="5889088" y="0"/>
                </a:lnTo>
                <a:lnTo>
                  <a:pt x="5889088" y="8229600"/>
                </a:lnTo>
                <a:lnTo>
                  <a:pt x="0" y="8229600"/>
                </a:lnTo>
                <a:lnTo>
                  <a:pt x="0" y="0"/>
                </a:lnTo>
                <a:close/>
              </a:path>
            </a:pathLst>
          </a:custGeom>
          <a:blipFill>
            <a:blip r:embed="rId2"/>
            <a:stretch>
              <a:fillRect t="-3703" b="-3703"/>
            </a:stretch>
          </a:blipFill>
        </p:spPr>
        <p:txBody>
          <a:bodyPr/>
          <a:lstStyle/>
          <a:p>
            <a:endParaRPr lang="en-CA"/>
          </a:p>
        </p:txBody>
      </p:sp>
      <p:grpSp>
        <p:nvGrpSpPr>
          <p:cNvPr id="4" name="Group 4"/>
          <p:cNvGrpSpPr/>
          <p:nvPr/>
        </p:nvGrpSpPr>
        <p:grpSpPr>
          <a:xfrm>
            <a:off x="12398912" y="0"/>
            <a:ext cx="5889088" cy="756959"/>
            <a:chOff x="0" y="0"/>
            <a:chExt cx="1551036" cy="199364"/>
          </a:xfrm>
        </p:grpSpPr>
        <p:sp>
          <p:nvSpPr>
            <p:cNvPr id="5" name="Freeform 5"/>
            <p:cNvSpPr/>
            <p:nvPr/>
          </p:nvSpPr>
          <p:spPr>
            <a:xfrm>
              <a:off x="0" y="0"/>
              <a:ext cx="1551036" cy="199364"/>
            </a:xfrm>
            <a:custGeom>
              <a:avLst/>
              <a:gdLst/>
              <a:ahLst/>
              <a:cxnLst/>
              <a:rect l="l" t="t" r="r" b="b"/>
              <a:pathLst>
                <a:path w="1551036" h="199364">
                  <a:moveTo>
                    <a:pt x="0" y="0"/>
                  </a:moveTo>
                  <a:lnTo>
                    <a:pt x="1551036" y="0"/>
                  </a:lnTo>
                  <a:lnTo>
                    <a:pt x="1551036" y="199364"/>
                  </a:lnTo>
                  <a:lnTo>
                    <a:pt x="0" y="199364"/>
                  </a:lnTo>
                  <a:close/>
                </a:path>
              </a:pathLst>
            </a:custGeom>
            <a:solidFill>
              <a:srgbClr val="2B485F"/>
            </a:solidFill>
            <a:ln cap="sq">
              <a:noFill/>
              <a:prstDash val="solid"/>
              <a:miter/>
            </a:ln>
          </p:spPr>
          <p:txBody>
            <a:bodyPr/>
            <a:lstStyle/>
            <a:p>
              <a:endParaRPr lang="en-CA"/>
            </a:p>
          </p:txBody>
        </p:sp>
        <p:sp>
          <p:nvSpPr>
            <p:cNvPr id="6" name="TextBox 6"/>
            <p:cNvSpPr txBox="1"/>
            <p:nvPr/>
          </p:nvSpPr>
          <p:spPr>
            <a:xfrm>
              <a:off x="0" y="-47625"/>
              <a:ext cx="1551036" cy="246989"/>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2398912" y="9530041"/>
            <a:ext cx="5889088" cy="756959"/>
            <a:chOff x="0" y="0"/>
            <a:chExt cx="1551036" cy="199364"/>
          </a:xfrm>
        </p:grpSpPr>
        <p:sp>
          <p:nvSpPr>
            <p:cNvPr id="8" name="Freeform 8"/>
            <p:cNvSpPr/>
            <p:nvPr/>
          </p:nvSpPr>
          <p:spPr>
            <a:xfrm>
              <a:off x="0" y="0"/>
              <a:ext cx="1551036" cy="199364"/>
            </a:xfrm>
            <a:custGeom>
              <a:avLst/>
              <a:gdLst/>
              <a:ahLst/>
              <a:cxnLst/>
              <a:rect l="l" t="t" r="r" b="b"/>
              <a:pathLst>
                <a:path w="1551036" h="199364">
                  <a:moveTo>
                    <a:pt x="0" y="0"/>
                  </a:moveTo>
                  <a:lnTo>
                    <a:pt x="1551036" y="0"/>
                  </a:lnTo>
                  <a:lnTo>
                    <a:pt x="1551036" y="199364"/>
                  </a:lnTo>
                  <a:lnTo>
                    <a:pt x="0" y="199364"/>
                  </a:lnTo>
                  <a:close/>
                </a:path>
              </a:pathLst>
            </a:custGeom>
            <a:solidFill>
              <a:srgbClr val="2B485F"/>
            </a:solidFill>
            <a:ln cap="sq">
              <a:noFill/>
              <a:prstDash val="solid"/>
              <a:miter/>
            </a:ln>
          </p:spPr>
          <p:txBody>
            <a:bodyPr/>
            <a:lstStyle/>
            <a:p>
              <a:endParaRPr lang="en-CA"/>
            </a:p>
          </p:txBody>
        </p:sp>
        <p:sp>
          <p:nvSpPr>
            <p:cNvPr id="9" name="TextBox 9"/>
            <p:cNvSpPr txBox="1"/>
            <p:nvPr/>
          </p:nvSpPr>
          <p:spPr>
            <a:xfrm>
              <a:off x="0" y="-47625"/>
              <a:ext cx="1551036" cy="246989"/>
            </a:xfrm>
            <a:prstGeom prst="rect">
              <a:avLst/>
            </a:prstGeom>
          </p:spPr>
          <p:txBody>
            <a:bodyPr lIns="50800" tIns="50800" rIns="50800" bIns="50800" rtlCol="0" anchor="ctr"/>
            <a:lstStyle/>
            <a:p>
              <a:pPr algn="ctr">
                <a:lnSpc>
                  <a:spcPts val="2659"/>
                </a:lnSpc>
              </a:pPr>
              <a:endParaRPr/>
            </a:p>
          </p:txBody>
        </p:sp>
      </p:grpSp>
      <p:sp>
        <p:nvSpPr>
          <p:cNvPr id="10" name="Freeform 10"/>
          <p:cNvSpPr/>
          <p:nvPr/>
        </p:nvSpPr>
        <p:spPr>
          <a:xfrm>
            <a:off x="-2880621" y="3661622"/>
            <a:ext cx="9392643" cy="9529477"/>
          </a:xfrm>
          <a:custGeom>
            <a:avLst/>
            <a:gdLst/>
            <a:ahLst/>
            <a:cxnLst/>
            <a:rect l="l" t="t" r="r" b="b"/>
            <a:pathLst>
              <a:path w="9392643" h="9529477">
                <a:moveTo>
                  <a:pt x="0" y="0"/>
                </a:moveTo>
                <a:lnTo>
                  <a:pt x="9392643" y="0"/>
                </a:lnTo>
                <a:lnTo>
                  <a:pt x="9392643" y="9529477"/>
                </a:lnTo>
                <a:lnTo>
                  <a:pt x="0" y="9529477"/>
                </a:lnTo>
                <a:lnTo>
                  <a:pt x="0" y="0"/>
                </a:lnTo>
                <a:close/>
              </a:path>
            </a:pathLst>
          </a:custGeom>
          <a:blipFill>
            <a:blip r:embed="rId3">
              <a:alphaModFix amt="20999"/>
              <a:extLst>
                <a:ext uri="{96DAC541-7B7A-43D3-8B79-37D633B846F1}">
                  <asvg:svgBlip xmlns:asvg="http://schemas.microsoft.com/office/drawing/2016/SVG/main" r:embed="rId4"/>
                </a:ext>
              </a:extLst>
            </a:blip>
            <a:stretch>
              <a:fillRect/>
            </a:stretch>
          </a:blipFill>
        </p:spPr>
        <p:txBody>
          <a:bodyPr/>
          <a:lstStyle/>
          <a:p>
            <a:endParaRPr lang="en-CA"/>
          </a:p>
        </p:txBody>
      </p:sp>
      <p:sp>
        <p:nvSpPr>
          <p:cNvPr id="11" name="TextBox 11"/>
          <p:cNvSpPr txBox="1"/>
          <p:nvPr/>
        </p:nvSpPr>
        <p:spPr>
          <a:xfrm>
            <a:off x="2818366" y="1641123"/>
            <a:ext cx="4409796" cy="324891"/>
          </a:xfrm>
          <a:prstGeom prst="rect">
            <a:avLst/>
          </a:prstGeom>
        </p:spPr>
        <p:txBody>
          <a:bodyPr lIns="0" tIns="0" rIns="0" bIns="0" rtlCol="0" anchor="t">
            <a:spAutoFit/>
          </a:bodyPr>
          <a:lstStyle/>
          <a:p>
            <a:pPr algn="ctr">
              <a:lnSpc>
                <a:spcPts val="2567"/>
              </a:lnSpc>
              <a:spcBef>
                <a:spcPct val="0"/>
              </a:spcBef>
            </a:pPr>
            <a:r>
              <a:rPr lang="en-US" sz="1834" spc="218">
                <a:solidFill>
                  <a:srgbClr val="000000"/>
                </a:solidFill>
                <a:latin typeface="Cloud"/>
                <a:ea typeface="Cloud"/>
                <a:cs typeface="Cloud"/>
                <a:sym typeface="Cloud"/>
              </a:rPr>
              <a:t>Securesphere Technologies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928</Words>
  <Application>Microsoft Office PowerPoint</Application>
  <PresentationFormat>Custom</PresentationFormat>
  <Paragraphs>109</Paragraphs>
  <Slides>18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Arial</vt:lpstr>
      <vt:lpstr>Calibri</vt:lpstr>
      <vt:lpstr>Inter</vt:lpstr>
      <vt:lpstr>League Spartan</vt:lpstr>
      <vt:lpstr>Cloud</vt:lpstr>
      <vt:lpstr>Helios</vt:lpstr>
      <vt:lpstr>Cloud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Securing Cloud Infrastructure: A Zero Trust and Encrypted Traffic Solution</dc:title>
  <cp:lastModifiedBy>Gautam Kumar</cp:lastModifiedBy>
  <cp:revision>2</cp:revision>
  <dcterms:created xsi:type="dcterms:W3CDTF">2006-08-16T00:00:00Z</dcterms:created>
  <dcterms:modified xsi:type="dcterms:W3CDTF">2024-12-04T10:01:35Z</dcterms:modified>
  <dc:identifier>DAGYTYKOjF8</dc:identifier>
</cp:coreProperties>
</file>